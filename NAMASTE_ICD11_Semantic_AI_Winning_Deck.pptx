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82880" y="91440"/>
            <a:ext cx="0" cy="6583680"/>
          </a:xfrm>
          <a:prstGeom prst="line">
            <a:avLst/>
          </a:prstGeom>
          <a:ln w="6350">
            <a:solidFill>
              <a:srgbClr val="0E19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051560" y="91440"/>
            <a:ext cx="0" cy="6583680"/>
          </a:xfrm>
          <a:prstGeom prst="line">
            <a:avLst/>
          </a:prstGeom>
          <a:ln w="6350">
            <a:solidFill>
              <a:srgbClr val="0E19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920240" y="91440"/>
            <a:ext cx="0" cy="6583680"/>
          </a:xfrm>
          <a:prstGeom prst="line">
            <a:avLst/>
          </a:prstGeom>
          <a:ln w="6350">
            <a:solidFill>
              <a:srgbClr val="0E19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88920" y="91440"/>
            <a:ext cx="0" cy="6583680"/>
          </a:xfrm>
          <a:prstGeom prst="line">
            <a:avLst/>
          </a:prstGeom>
          <a:ln w="6350">
            <a:solidFill>
              <a:srgbClr val="0E19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657600" y="91440"/>
            <a:ext cx="0" cy="6583680"/>
          </a:xfrm>
          <a:prstGeom prst="line">
            <a:avLst/>
          </a:prstGeom>
          <a:ln w="6350">
            <a:solidFill>
              <a:srgbClr val="0E19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26280" y="91440"/>
            <a:ext cx="0" cy="6583680"/>
          </a:xfrm>
          <a:prstGeom prst="line">
            <a:avLst/>
          </a:prstGeom>
          <a:ln w="6350">
            <a:solidFill>
              <a:srgbClr val="0E19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394959" y="91440"/>
            <a:ext cx="0" cy="6583680"/>
          </a:xfrm>
          <a:prstGeom prst="line">
            <a:avLst/>
          </a:prstGeom>
          <a:ln w="6350">
            <a:solidFill>
              <a:srgbClr val="0E19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263640" y="91440"/>
            <a:ext cx="0" cy="6583680"/>
          </a:xfrm>
          <a:prstGeom prst="line">
            <a:avLst/>
          </a:prstGeom>
          <a:ln w="6350">
            <a:solidFill>
              <a:srgbClr val="0E19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132320" y="91440"/>
            <a:ext cx="0" cy="6583680"/>
          </a:xfrm>
          <a:prstGeom prst="line">
            <a:avLst/>
          </a:prstGeom>
          <a:ln w="6350">
            <a:solidFill>
              <a:srgbClr val="0E19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000999" y="91440"/>
            <a:ext cx="0" cy="6583680"/>
          </a:xfrm>
          <a:prstGeom prst="line">
            <a:avLst/>
          </a:prstGeom>
          <a:ln w="6350">
            <a:solidFill>
              <a:srgbClr val="0E19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869680" y="91440"/>
            <a:ext cx="0" cy="6583680"/>
          </a:xfrm>
          <a:prstGeom prst="line">
            <a:avLst/>
          </a:prstGeom>
          <a:ln w="6350">
            <a:solidFill>
              <a:srgbClr val="0E19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738359" y="91440"/>
            <a:ext cx="0" cy="6583680"/>
          </a:xfrm>
          <a:prstGeom prst="line">
            <a:avLst/>
          </a:prstGeom>
          <a:ln w="6350">
            <a:solidFill>
              <a:srgbClr val="0E19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607039" y="91440"/>
            <a:ext cx="0" cy="6583680"/>
          </a:xfrm>
          <a:prstGeom prst="line">
            <a:avLst/>
          </a:prstGeom>
          <a:ln w="6350">
            <a:solidFill>
              <a:srgbClr val="0E19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475719" y="91440"/>
            <a:ext cx="0" cy="6583680"/>
          </a:xfrm>
          <a:prstGeom prst="line">
            <a:avLst/>
          </a:prstGeom>
          <a:ln w="6350">
            <a:solidFill>
              <a:srgbClr val="0E19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440" y="182880"/>
            <a:ext cx="11978640" cy="0"/>
          </a:xfrm>
          <a:prstGeom prst="line">
            <a:avLst/>
          </a:prstGeom>
          <a:ln w="6350">
            <a:solidFill>
              <a:srgbClr val="0E19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" y="932688"/>
            <a:ext cx="11978640" cy="0"/>
          </a:xfrm>
          <a:prstGeom prst="line">
            <a:avLst/>
          </a:prstGeom>
          <a:ln w="6350">
            <a:solidFill>
              <a:srgbClr val="0E19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440" y="1682495"/>
            <a:ext cx="11978640" cy="0"/>
          </a:xfrm>
          <a:prstGeom prst="line">
            <a:avLst/>
          </a:prstGeom>
          <a:ln w="6350">
            <a:solidFill>
              <a:srgbClr val="0E19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1440" y="2432304"/>
            <a:ext cx="11978640" cy="0"/>
          </a:xfrm>
          <a:prstGeom prst="line">
            <a:avLst/>
          </a:prstGeom>
          <a:ln w="6350">
            <a:solidFill>
              <a:srgbClr val="0E19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1440" y="3182112"/>
            <a:ext cx="11978640" cy="0"/>
          </a:xfrm>
          <a:prstGeom prst="line">
            <a:avLst/>
          </a:prstGeom>
          <a:ln w="6350">
            <a:solidFill>
              <a:srgbClr val="0E19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1440" y="3931920"/>
            <a:ext cx="11978640" cy="0"/>
          </a:xfrm>
          <a:prstGeom prst="line">
            <a:avLst/>
          </a:prstGeom>
          <a:ln w="6350">
            <a:solidFill>
              <a:srgbClr val="0E19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1440" y="4681728"/>
            <a:ext cx="11978640" cy="0"/>
          </a:xfrm>
          <a:prstGeom prst="line">
            <a:avLst/>
          </a:prstGeom>
          <a:ln w="6350">
            <a:solidFill>
              <a:srgbClr val="0E19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1440" y="5431536"/>
            <a:ext cx="11978640" cy="0"/>
          </a:xfrm>
          <a:prstGeom prst="line">
            <a:avLst/>
          </a:prstGeom>
          <a:ln w="6350">
            <a:solidFill>
              <a:srgbClr val="0E19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1440" y="6181344"/>
            <a:ext cx="11978640" cy="0"/>
          </a:xfrm>
          <a:prstGeom prst="line">
            <a:avLst/>
          </a:prstGeom>
          <a:ln w="6350">
            <a:solidFill>
              <a:srgbClr val="0E19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9784080" y="640080"/>
            <a:ext cx="1325880" cy="1325880"/>
          </a:xfrm>
          <a:prstGeom prst="ellipse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61320" y="1417320"/>
            <a:ext cx="640080" cy="640080"/>
          </a:xfrm>
          <a:prstGeom prst="ellipse">
            <a:avLst/>
          </a:prstGeom>
          <a:solidFill>
            <a:srgbClr val="A064FF"/>
          </a:solidFill>
          <a:ln>
            <a:solidFill>
              <a:srgbClr val="A0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052560" y="1737360"/>
            <a:ext cx="411480" cy="411480"/>
          </a:xfrm>
          <a:prstGeom prst="ellipse">
            <a:avLst/>
          </a:prstGeom>
          <a:solidFill>
            <a:srgbClr val="47D697"/>
          </a:solidFill>
          <a:ln>
            <a:solidFill>
              <a:srgbClr val="47D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685800"/>
            <a:ext cx="71323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31D3DD"/>
                </a:solidFill>
                <a:latin typeface="Aptos"/>
              </a:rPr>
              <a:t>INTERNAL HACKATHON • PS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1143000"/>
            <a:ext cx="9692640" cy="10058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3400" b="1" i="0">
                <a:solidFill>
                  <a:srgbClr val="F5F8FC"/>
                </a:solidFill>
                <a:latin typeface="Aptos"/>
              </a:rPr>
              <a:t>Medical Semantic
Interoperability 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2743200"/>
            <a:ext cx="9052560" cy="7315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700" b="0" i="0">
                <a:solidFill>
                  <a:srgbClr val="A4B2C5"/>
                </a:solidFill>
                <a:latin typeface="Aptos"/>
              </a:rPr>
              <a:t>Explainable AI-powered semantic mapping between
NAMASTE / AYUSH terminology and ICD-11 TM2 concepts.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069080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279392"/>
            <a:ext cx="484632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31D3DD"/>
                </a:solidFill>
                <a:latin typeface="Aptos"/>
              </a:rPr>
              <a:t>THE ONE-LINE PITCH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599432"/>
            <a:ext cx="4754880" cy="31089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1" i="0">
                <a:solidFill>
                  <a:srgbClr val="F5F8FC"/>
                </a:solidFill>
                <a:latin typeface="Aptos"/>
              </a:rPr>
              <a:t>“Understand the clinical meaning → retrieve evidence → map → explain → integrate.”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6080760"/>
            <a:ext cx="804672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A4B2C5"/>
                </a:solidFill>
                <a:latin typeface="Aptos"/>
              </a:rPr>
              <a:t>Designed as a competition-grade prototype • Proposed architecture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6080760"/>
            <a:ext cx="10972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A4B2C5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13816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31D3DD"/>
                </a:solidFill>
                <a:latin typeface="Aptos"/>
              </a:rPr>
              <a:t>01 •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ptos"/>
              </a:rPr>
              <a:t>The real problem is semantic, not syntactic.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6984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A4B2C5"/>
                </a:solidFill>
                <a:latin typeface="Aptos"/>
              </a:rPr>
              <a:t>Traditional medicine terminology and international classification need an intelligent bridge.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A4B2C5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429000" cy="333756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0292" cy="3337560"/>
          </a:xfrm>
          <a:prstGeom prst="rect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1" y="1929384"/>
            <a:ext cx="347472" cy="347472"/>
          </a:xfrm>
          <a:prstGeom prst="ellipse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929384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920240"/>
            <a:ext cx="265176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Clinician 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3081528" cy="2651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A4B2C5"/>
                </a:solidFill>
                <a:latin typeface="Aptos"/>
              </a:rPr>
              <a:t>Practitioners may enter natural language, transliterations, synonyms, traditional terms and contextual descriptions—not codes.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783080"/>
            <a:ext cx="3429000" cy="333756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783080"/>
            <a:ext cx="50292" cy="3337560"/>
          </a:xfrm>
          <a:prstGeom prst="rect">
            <a:avLst/>
          </a:prstGeom>
          <a:solidFill>
            <a:srgbClr val="507EFF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35424" y="1929384"/>
            <a:ext cx="347472" cy="347472"/>
          </a:xfrm>
          <a:prstGeom prst="ellipse">
            <a:avLst/>
          </a:prstGeom>
          <a:solidFill>
            <a:srgbClr val="507EFF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1929384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2624" y="1920240"/>
            <a:ext cx="265176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Two vocabularies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350008"/>
            <a:ext cx="3081528" cy="2651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A4B2C5"/>
                </a:solidFill>
                <a:latin typeface="Aptos"/>
              </a:rPr>
              <a:t>NAMASTE standardizes AYUSH terminology/morbidity coding; ICD-11 provides a global classification framework.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3" y="1783080"/>
            <a:ext cx="3429000" cy="333756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3" y="1783080"/>
            <a:ext cx="50292" cy="3337560"/>
          </a:xfrm>
          <a:prstGeom prst="rect">
            <a:avLst/>
          </a:prstGeom>
          <a:solidFill>
            <a:srgbClr val="A064FF"/>
          </a:solidFill>
          <a:ln>
            <a:solidFill>
              <a:srgbClr val="A0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66175" y="1929384"/>
            <a:ext cx="347472" cy="347472"/>
          </a:xfrm>
          <a:prstGeom prst="ellipse">
            <a:avLst/>
          </a:prstGeom>
          <a:solidFill>
            <a:srgbClr val="A064FF"/>
          </a:solidFill>
          <a:ln>
            <a:solidFill>
              <a:srgbClr val="A0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5" y="1929384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3376" y="1920240"/>
            <a:ext cx="265176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Interoperability gap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350008"/>
            <a:ext cx="3081528" cy="2651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A4B2C5"/>
                </a:solidFill>
                <a:latin typeface="Aptos"/>
              </a:rPr>
              <a:t>A useful bridge must retrieve candidates, preserve evidence, handle ambiguity and expose an API that EMR systems can consume.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" y="6446520"/>
            <a:ext cx="11000232" cy="0"/>
          </a:xfrm>
          <a:prstGeom prst="line">
            <a:avLst/>
          </a:prstGeom>
          <a:ln w="1016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21792" y="6492240"/>
            <a:ext cx="106070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19" b="0" i="0">
                <a:solidFill>
                  <a:srgbClr val="A4B2C5"/>
                </a:solidFill>
                <a:latin typeface="Aptos"/>
              </a:rPr>
              <a:t>Hackathon concept • Proposed architecture • Not a clinical decision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13816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31D3DD"/>
                </a:solidFill>
                <a:latin typeface="Aptos"/>
              </a:rPr>
              <a:t>02 •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ptos"/>
              </a:rPr>
              <a:t>What NAMASTE and ICD-11 each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6984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A4B2C5"/>
                </a:solidFill>
                <a:latin typeface="Aptos"/>
              </a:rPr>
              <a:t>Do not treat them as two flat code lists.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A4B2C5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4297680" cy="960120"/>
          </a:xfrm>
          <a:prstGeom prst="roundRect">
            <a:avLst>
              <a:gd name="adj" fmla="val 12000"/>
            </a:avLst>
          </a:prstGeom>
          <a:solidFill>
            <a:srgbClr val="142237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83664"/>
            <a:ext cx="4151376" cy="8503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5F8FC"/>
                </a:solidFill>
                <a:latin typeface="Aptos"/>
              </a:rPr>
              <a:t>NAMASTE / AYUSH
Standardized terminology + morbidity codes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40680" y="1920240"/>
            <a:ext cx="914400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800" b="1" i="0">
                <a:solidFill>
                  <a:srgbClr val="F5F8FC"/>
                </a:solidFill>
                <a:latin typeface="Aptos"/>
              </a:rPr>
              <a:t>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828800"/>
            <a:ext cx="4892040" cy="960120"/>
          </a:xfrm>
          <a:prstGeom prst="roundRect">
            <a:avLst>
              <a:gd name="adj" fmla="val 12000"/>
            </a:avLst>
          </a:prstGeom>
          <a:solidFill>
            <a:srgbClr val="142237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1883664"/>
            <a:ext cx="4745736" cy="8503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5F8FC"/>
                </a:solidFill>
                <a:latin typeface="Aptos"/>
              </a:rPr>
              <a:t>ICD-11 / WHO
International classification + digital API ecosystem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191256"/>
            <a:ext cx="82296" cy="82296"/>
          </a:xfrm>
          <a:prstGeom prst="ellipse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3154680"/>
            <a:ext cx="4407408" cy="42062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20" b="0" i="0">
                <a:solidFill>
                  <a:srgbClr val="F5F8FC"/>
                </a:solidFill>
                <a:latin typeface="Aptos"/>
              </a:rPr>
              <a:t>NAMASTE: Indian AYUSH terminology and morbidity coding context.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721608"/>
            <a:ext cx="82296" cy="82296"/>
          </a:xfrm>
          <a:prstGeom prst="ellipse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685032"/>
            <a:ext cx="4407408" cy="42062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20" b="0" i="0">
                <a:solidFill>
                  <a:srgbClr val="F5F8FC"/>
                </a:solidFill>
                <a:latin typeface="Aptos"/>
              </a:rPr>
              <a:t>ICD-11: global health-data classification and interoperability.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251960"/>
            <a:ext cx="82296" cy="82296"/>
          </a:xfrm>
          <a:prstGeom prst="ellipse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215384"/>
            <a:ext cx="4407408" cy="42062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20" b="0" i="0">
                <a:solidFill>
                  <a:srgbClr val="F5F8FC"/>
                </a:solidFill>
                <a:latin typeface="Aptos"/>
              </a:rPr>
              <a:t>Traditional Medicine content supports optional dual coding in morbidity use cases.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782312"/>
            <a:ext cx="82296" cy="82296"/>
          </a:xfrm>
          <a:prstGeom prst="ellipse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4745736"/>
            <a:ext cx="4407408" cy="42062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20" b="0" i="0">
                <a:solidFill>
                  <a:srgbClr val="F5F8FC"/>
                </a:solidFill>
                <a:latin typeface="Aptos"/>
              </a:rPr>
              <a:t>Your project: an intelligent semantic interoperability layer—not a replacement for either system.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3191256"/>
            <a:ext cx="82296" cy="82296"/>
          </a:xfrm>
          <a:prstGeom prst="ellipse">
            <a:avLst/>
          </a:prstGeom>
          <a:solidFill>
            <a:srgbClr val="507EFF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2552" y="3154680"/>
            <a:ext cx="4407408" cy="42062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20" b="0" i="0">
                <a:solidFill>
                  <a:srgbClr val="F5F8FC"/>
                </a:solidFill>
                <a:latin typeface="Aptos"/>
              </a:rPr>
              <a:t>Preserve the original traditional concept.</a:t>
            </a:r>
          </a:p>
        </p:txBody>
      </p:sp>
      <p:sp>
        <p:nvSpPr>
          <p:cNvPr id="21" name="Oval 20"/>
          <p:cNvSpPr/>
          <p:nvPr/>
        </p:nvSpPr>
        <p:spPr>
          <a:xfrm>
            <a:off x="6537960" y="3721608"/>
            <a:ext cx="82296" cy="82296"/>
          </a:xfrm>
          <a:prstGeom prst="ellipse">
            <a:avLst/>
          </a:prstGeom>
          <a:solidFill>
            <a:srgbClr val="507EFF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2552" y="3685032"/>
            <a:ext cx="4407408" cy="42062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20" b="0" i="0">
                <a:solidFill>
                  <a:srgbClr val="F5F8FC"/>
                </a:solidFill>
                <a:latin typeface="Aptos"/>
              </a:rPr>
              <a:t>Add the standardized crosswalk.</a:t>
            </a:r>
          </a:p>
        </p:txBody>
      </p:sp>
      <p:sp>
        <p:nvSpPr>
          <p:cNvPr id="23" name="Oval 22"/>
          <p:cNvSpPr/>
          <p:nvPr/>
        </p:nvSpPr>
        <p:spPr>
          <a:xfrm>
            <a:off x="6537960" y="4251960"/>
            <a:ext cx="82296" cy="82296"/>
          </a:xfrm>
          <a:prstGeom prst="ellipse">
            <a:avLst/>
          </a:prstGeom>
          <a:solidFill>
            <a:srgbClr val="507EFF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02552" y="4215384"/>
            <a:ext cx="4407408" cy="42062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20" b="0" i="0">
                <a:solidFill>
                  <a:srgbClr val="F5F8FC"/>
                </a:solidFill>
                <a:latin typeface="Aptos"/>
              </a:rPr>
              <a:t>Expose evidence and uncertainty.</a:t>
            </a:r>
          </a:p>
        </p:txBody>
      </p:sp>
      <p:sp>
        <p:nvSpPr>
          <p:cNvPr id="25" name="Oval 24"/>
          <p:cNvSpPr/>
          <p:nvPr/>
        </p:nvSpPr>
        <p:spPr>
          <a:xfrm>
            <a:off x="6537960" y="4782312"/>
            <a:ext cx="82296" cy="82296"/>
          </a:xfrm>
          <a:prstGeom prst="ellipse">
            <a:avLst/>
          </a:prstGeom>
          <a:solidFill>
            <a:srgbClr val="507EFF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02552" y="4745736"/>
            <a:ext cx="4407408" cy="42062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20" b="0" i="0">
                <a:solidFill>
                  <a:srgbClr val="F5F8FC"/>
                </a:solidFill>
                <a:latin typeface="Aptos"/>
              </a:rPr>
              <a:t>Return machine-readable results to downstream systems.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199632"/>
            <a:ext cx="1078992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750" b="0" i="1">
                <a:solidFill>
                  <a:srgbClr val="A4B2C5"/>
                </a:solidFill>
                <a:latin typeface="Aptos"/>
              </a:rPr>
              <a:t>Sources: WHO Traditional Medicine FAQ; Ministry of Ayush NAMASTE Portal.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13816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31D3DD"/>
                </a:solidFill>
                <a:latin typeface="Aptos"/>
              </a:rPr>
              <a:t>03 • CURRENT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ptos"/>
              </a:rPr>
              <a:t>Why this problem is real right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6984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A4B2C5"/>
                </a:solidFill>
                <a:latin typeface="Aptos"/>
              </a:rPr>
              <a:t>The ecosystem already has terminology, coding and API infrastructure—the missing value is the intelligent bridge.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A4B2C5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2514600" cy="123444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920240"/>
            <a:ext cx="2185416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300" b="1" i="0">
                <a:solidFill>
                  <a:srgbClr val="31D3DD"/>
                </a:solidFill>
                <a:latin typeface="Aptos"/>
              </a:rPr>
              <a:t>NAMASTE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77440"/>
            <a:ext cx="2185416" cy="5486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80" b="0" i="0">
                <a:solidFill>
                  <a:srgbClr val="A4B2C5"/>
                </a:solidFill>
                <a:latin typeface="Aptos"/>
              </a:rPr>
              <a:t>National AYUSH terminology + morbidity coding portal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1783080"/>
            <a:ext cx="2514600" cy="123444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920240"/>
            <a:ext cx="2185416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300" b="1" i="0">
                <a:solidFill>
                  <a:srgbClr val="507EFF"/>
                </a:solidFill>
                <a:latin typeface="Aptos"/>
              </a:rPr>
              <a:t>ICD-11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377440"/>
            <a:ext cx="2185416" cy="5486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80" b="0" i="0">
                <a:solidFill>
                  <a:srgbClr val="A4B2C5"/>
                </a:solidFill>
                <a:latin typeface="Aptos"/>
              </a:rPr>
              <a:t>WHO global classification framework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17336" y="1783080"/>
            <a:ext cx="2514600" cy="123444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1920240"/>
            <a:ext cx="2185416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300" b="1" i="0">
                <a:solidFill>
                  <a:srgbClr val="A064FF"/>
                </a:solidFill>
                <a:latin typeface="Aptos"/>
              </a:rPr>
              <a:t>TM2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1928" y="2377440"/>
            <a:ext cx="2185416" cy="5486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80" b="0" i="0">
                <a:solidFill>
                  <a:srgbClr val="A4B2C5"/>
                </a:solidFill>
                <a:latin typeface="Aptos"/>
              </a:rPr>
              <a:t>Ayurveda / Siddha / Unani traditional-medicine module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33104" y="1783080"/>
            <a:ext cx="2514600" cy="123444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7696" y="1920240"/>
            <a:ext cx="2185416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300" b="1" i="0">
                <a:solidFill>
                  <a:srgbClr val="47D697"/>
                </a:solidFill>
                <a:latin typeface="Aptos"/>
              </a:rPr>
              <a:t>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377440"/>
            <a:ext cx="2185416" cy="5486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80" b="0" i="0">
                <a:solidFill>
                  <a:srgbClr val="A4B2C5"/>
                </a:solidFill>
                <a:latin typeface="Aptos"/>
              </a:rPr>
              <a:t>WHO provides programmatic ICD access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37560"/>
            <a:ext cx="10661904" cy="173736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37560"/>
            <a:ext cx="50292" cy="1737360"/>
          </a:xfrm>
          <a:prstGeom prst="rect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0392" y="3483864"/>
            <a:ext cx="347472" cy="347472"/>
          </a:xfrm>
          <a:prstGeom prst="ellipse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3483864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7592" y="3474720"/>
            <a:ext cx="9884664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Strategic opportunity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3904487"/>
            <a:ext cx="10314432" cy="10515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A4B2C5"/>
                </a:solidFill>
                <a:latin typeface="Aptos"/>
              </a:rPr>
              <a:t>Build the intelligence layer between clinician language, AYUSH terminology and ICD-11 concepts. The platform can make mappings searchable, explainable, auditable and EMR-ready.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199632"/>
            <a:ext cx="1078992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750" b="0" i="1">
                <a:solidFill>
                  <a:srgbClr val="A4B2C5"/>
                </a:solidFill>
                <a:latin typeface="Aptos"/>
              </a:rPr>
              <a:t>Current official references: NAMASTE portal (updated May 2026); WHO ICD-API; Ministry of Ayush 2025 ICD-11 TM2 update.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4360" y="6446520"/>
            <a:ext cx="11000232" cy="0"/>
          </a:xfrm>
          <a:prstGeom prst="line">
            <a:avLst/>
          </a:prstGeom>
          <a:ln w="1016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21792" y="6492240"/>
            <a:ext cx="106070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19" b="0" i="0">
                <a:solidFill>
                  <a:srgbClr val="A4B2C5"/>
                </a:solidFill>
                <a:latin typeface="Aptos"/>
              </a:rPr>
              <a:t>Hackathon concept • Proposed architecture • Not a clinical decision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13816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31D3DD"/>
                </a:solidFill>
                <a:latin typeface="Aptos"/>
              </a:rPr>
              <a:t>04 • CORE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ptos"/>
              </a:rPr>
              <a:t>Do not map code → code. Map concept → concept.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6984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A4B2C5"/>
                </a:solidFill>
                <a:latin typeface="Aptos"/>
              </a:rPr>
              <a:t>This is the central architectural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A4B2C5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965960" cy="822960"/>
          </a:xfrm>
          <a:prstGeom prst="roundRect">
            <a:avLst>
              <a:gd name="adj" fmla="val 12000"/>
            </a:avLst>
          </a:prstGeom>
          <a:solidFill>
            <a:srgbClr val="142237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1" y="1975104"/>
            <a:ext cx="1819656" cy="7132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Aptos"/>
              </a:rPr>
              <a:t>Doctor
Natural language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1760" y="2331720"/>
            <a:ext cx="502920" cy="0"/>
          </a:xfrm>
          <a:prstGeom prst="line">
            <a:avLst/>
          </a:prstGeom>
          <a:ln w="2540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3058384" y="2331720"/>
            <a:ext cx="96296" cy="52606"/>
          </a:xfrm>
          <a:prstGeom prst="line">
            <a:avLst/>
          </a:prstGeom>
          <a:ln w="2286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3058384" y="2279113"/>
            <a:ext cx="96296" cy="52607"/>
          </a:xfrm>
          <a:prstGeom prst="line">
            <a:avLst/>
          </a:prstGeom>
          <a:ln w="2286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00400" y="1920240"/>
            <a:ext cx="2011680" cy="822960"/>
          </a:xfrm>
          <a:prstGeom prst="roundRect">
            <a:avLst>
              <a:gd name="adj" fmla="val 12000"/>
            </a:avLst>
          </a:prstGeom>
          <a:solidFill>
            <a:srgbClr val="142237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3552" y="1975104"/>
            <a:ext cx="1865376" cy="7132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Aptos"/>
              </a:rPr>
              <a:t>Medical NLP
Concept extraction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57800" y="2331720"/>
            <a:ext cx="457200" cy="0"/>
          </a:xfrm>
          <a:prstGeom prst="line">
            <a:avLst/>
          </a:prstGeom>
          <a:ln w="2540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618704" y="2331720"/>
            <a:ext cx="96296" cy="52606"/>
          </a:xfrm>
          <a:prstGeom prst="line">
            <a:avLst/>
          </a:prstGeom>
          <a:ln w="2286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5618704" y="2279113"/>
            <a:ext cx="96296" cy="52607"/>
          </a:xfrm>
          <a:prstGeom prst="line">
            <a:avLst/>
          </a:prstGeom>
          <a:ln w="2286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760720" y="1920240"/>
            <a:ext cx="2057400" cy="822960"/>
          </a:xfrm>
          <a:prstGeom prst="roundRect">
            <a:avLst>
              <a:gd name="adj" fmla="val 12000"/>
            </a:avLst>
          </a:prstGeom>
          <a:solidFill>
            <a:srgbClr val="142237"/>
          </a:solidFill>
          <a:ln>
            <a:solidFill>
              <a:srgbClr val="A0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33872" y="1975104"/>
            <a:ext cx="1911095" cy="7132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Aptos"/>
              </a:rPr>
              <a:t>Semantic
Representation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63840" y="2331720"/>
            <a:ext cx="457200" cy="0"/>
          </a:xfrm>
          <a:prstGeom prst="line">
            <a:avLst/>
          </a:prstGeom>
          <a:ln w="2540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8224744" y="2331720"/>
            <a:ext cx="96296" cy="52606"/>
          </a:xfrm>
          <a:prstGeom prst="line">
            <a:avLst/>
          </a:prstGeom>
          <a:ln w="2286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8224744" y="2279113"/>
            <a:ext cx="96296" cy="52607"/>
          </a:xfrm>
          <a:prstGeom prst="line">
            <a:avLst/>
          </a:prstGeom>
          <a:ln w="2286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366760" y="1920240"/>
            <a:ext cx="2423160" cy="822960"/>
          </a:xfrm>
          <a:prstGeom prst="roundRect">
            <a:avLst>
              <a:gd name="adj" fmla="val 12000"/>
            </a:avLst>
          </a:prstGeom>
          <a:solidFill>
            <a:srgbClr val="142237"/>
          </a:solidFill>
          <a:ln>
            <a:solidFill>
              <a:srgbClr val="47D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9912" y="1975104"/>
            <a:ext cx="2276856" cy="7132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Aptos"/>
              </a:rPr>
              <a:t>Evidence +
Mapping Engine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555480" y="2788920"/>
            <a:ext cx="0" cy="868680"/>
          </a:xfrm>
          <a:prstGeom prst="line">
            <a:avLst/>
          </a:prstGeom>
          <a:ln w="2540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9502873" y="3561304"/>
            <a:ext cx="52607" cy="96296"/>
          </a:xfrm>
          <a:prstGeom prst="line">
            <a:avLst/>
          </a:prstGeom>
          <a:ln w="2286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555480" y="3561304"/>
            <a:ext cx="52606" cy="96296"/>
          </a:xfrm>
          <a:prstGeom prst="line">
            <a:avLst/>
          </a:prstGeom>
          <a:ln w="2286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83879" y="3749039"/>
            <a:ext cx="2743200" cy="822960"/>
          </a:xfrm>
          <a:prstGeom prst="roundRect">
            <a:avLst>
              <a:gd name="adj" fmla="val 12000"/>
            </a:avLst>
          </a:prstGeom>
          <a:solidFill>
            <a:srgbClr val="142237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3803903"/>
            <a:ext cx="2596896" cy="7132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Aptos"/>
              </a:rPr>
              <a:t>NAMASTE ↔ ICD-11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931920"/>
            <a:ext cx="6949440" cy="10972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F5F8FC"/>
                </a:solidFill>
                <a:latin typeface="Aptos"/>
              </a:rPr>
              <a:t>The semantic layer becomes the bridge.
Exact wording is no longer the single point of failure.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4360" y="6446520"/>
            <a:ext cx="11000232" cy="0"/>
          </a:xfrm>
          <a:prstGeom prst="line">
            <a:avLst/>
          </a:prstGeom>
          <a:ln w="1016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1792" y="6492240"/>
            <a:ext cx="106070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19" b="0" i="0">
                <a:solidFill>
                  <a:srgbClr val="A4B2C5"/>
                </a:solidFill>
                <a:latin typeface="Aptos"/>
              </a:rPr>
              <a:t>Hackathon concept • Proposed architecture • Not a clinical decision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13816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31D3DD"/>
                </a:solidFill>
                <a:latin typeface="Aptos"/>
              </a:rPr>
              <a:t>05 • 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ptos"/>
              </a:rPr>
              <a:t>What the clinician actually experiences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6984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A4B2C5"/>
                </a:solidFill>
                <a:latin typeface="Aptos"/>
              </a:rPr>
              <a:t>A 20-second workflow should look effortless.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A4B2C5"/>
                </a:solidFill>
                <a:latin typeface="Aptos"/>
              </a:rPr>
              <a:t>06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1828800"/>
            <a:ext cx="420624" cy="420624"/>
          </a:xfrm>
          <a:prstGeom prst="ellipse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28800"/>
            <a:ext cx="420624" cy="42062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070D18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719072"/>
            <a:ext cx="100584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Type / paste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2029968"/>
            <a:ext cx="1005840" cy="5669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80" b="0" i="0">
                <a:solidFill>
                  <a:srgbClr val="A4B2C5"/>
                </a:solidFill>
                <a:latin typeface="Aptos"/>
              </a:rPr>
              <a:t>Clinical description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94560" y="2039112"/>
            <a:ext cx="274320" cy="0"/>
          </a:xfrm>
          <a:prstGeom prst="line">
            <a:avLst/>
          </a:prstGeom>
          <a:ln w="1524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2372584" y="2039112"/>
            <a:ext cx="96296" cy="52606"/>
          </a:xfrm>
          <a:prstGeom prst="line">
            <a:avLst/>
          </a:prstGeom>
          <a:ln w="2286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2372584" y="1986505"/>
            <a:ext cx="96296" cy="52607"/>
          </a:xfrm>
          <a:prstGeom prst="line">
            <a:avLst/>
          </a:prstGeom>
          <a:ln w="2286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286000" y="1828800"/>
            <a:ext cx="420624" cy="420624"/>
          </a:xfrm>
          <a:prstGeom prst="ellipse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1828800"/>
            <a:ext cx="420624" cy="42062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070D18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1719072"/>
            <a:ext cx="100584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Understand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6352" y="2029968"/>
            <a:ext cx="1005840" cy="5669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80" b="0" i="0">
                <a:solidFill>
                  <a:srgbClr val="A4B2C5"/>
                </a:solidFill>
                <a:latin typeface="Aptos"/>
              </a:rPr>
              <a:t>NLP extracts concepts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22191" y="2039112"/>
            <a:ext cx="274321" cy="0"/>
          </a:xfrm>
          <a:prstGeom prst="line">
            <a:avLst/>
          </a:prstGeom>
          <a:ln w="1524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4000216" y="2039112"/>
            <a:ext cx="96296" cy="52606"/>
          </a:xfrm>
          <a:prstGeom prst="line">
            <a:avLst/>
          </a:prstGeom>
          <a:ln w="2286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4000216" y="1986505"/>
            <a:ext cx="96296" cy="52607"/>
          </a:xfrm>
          <a:prstGeom prst="line">
            <a:avLst/>
          </a:prstGeom>
          <a:ln w="2286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3913632" y="1828800"/>
            <a:ext cx="420624" cy="420624"/>
          </a:xfrm>
          <a:prstGeom prst="ellipse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13632" y="1828800"/>
            <a:ext cx="420624" cy="42062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070D18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3984" y="1719072"/>
            <a:ext cx="100584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Retrieve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2029968"/>
            <a:ext cx="1005840" cy="5669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80" b="0" i="0">
                <a:solidFill>
                  <a:srgbClr val="A4B2C5"/>
                </a:solidFill>
                <a:latin typeface="Aptos"/>
              </a:rPr>
              <a:t>Semantic + graph search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49824" y="2039112"/>
            <a:ext cx="274320" cy="0"/>
          </a:xfrm>
          <a:prstGeom prst="line">
            <a:avLst/>
          </a:prstGeom>
          <a:ln w="1524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5627848" y="2039112"/>
            <a:ext cx="96296" cy="52606"/>
          </a:xfrm>
          <a:prstGeom prst="line">
            <a:avLst/>
          </a:prstGeom>
          <a:ln w="2286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5627848" y="1986505"/>
            <a:ext cx="96296" cy="52607"/>
          </a:xfrm>
          <a:prstGeom prst="line">
            <a:avLst/>
          </a:prstGeom>
          <a:ln w="2286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5541264" y="1828800"/>
            <a:ext cx="420624" cy="420624"/>
          </a:xfrm>
          <a:prstGeom prst="ellipse">
            <a:avLst/>
          </a:prstGeom>
          <a:solidFill>
            <a:srgbClr val="507EFF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41264" y="1828800"/>
            <a:ext cx="420624" cy="42062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070D18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71616" y="1719072"/>
            <a:ext cx="100584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Validate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71616" y="2029968"/>
            <a:ext cx="1005840" cy="5669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80" b="0" i="0">
                <a:solidFill>
                  <a:srgbClr val="A4B2C5"/>
                </a:solidFill>
                <a:latin typeface="Aptos"/>
              </a:rPr>
              <a:t>Rank + rules + evidence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077456" y="2039112"/>
            <a:ext cx="274320" cy="0"/>
          </a:xfrm>
          <a:prstGeom prst="line">
            <a:avLst/>
          </a:prstGeom>
          <a:ln w="1524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7255480" y="2039112"/>
            <a:ext cx="96296" cy="52606"/>
          </a:xfrm>
          <a:prstGeom prst="line">
            <a:avLst/>
          </a:prstGeom>
          <a:ln w="2286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7255480" y="1986505"/>
            <a:ext cx="96296" cy="52607"/>
          </a:xfrm>
          <a:prstGeom prst="line">
            <a:avLst/>
          </a:prstGeom>
          <a:ln w="2286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168896" y="1828800"/>
            <a:ext cx="420624" cy="420624"/>
          </a:xfrm>
          <a:prstGeom prst="ellipse">
            <a:avLst/>
          </a:prstGeom>
          <a:solidFill>
            <a:srgbClr val="507EFF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68896" y="1828800"/>
            <a:ext cx="420624" cy="42062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070D18"/>
                </a:solidFill>
                <a:latin typeface="Aptos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99248" y="1719072"/>
            <a:ext cx="100584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Map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99248" y="2029968"/>
            <a:ext cx="1005840" cy="5669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80" b="0" i="0">
                <a:solidFill>
                  <a:srgbClr val="A4B2C5"/>
                </a:solidFill>
                <a:latin typeface="Aptos"/>
              </a:rPr>
              <a:t>NAMASTE ↔ ICD-11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705088" y="2039112"/>
            <a:ext cx="274320" cy="0"/>
          </a:xfrm>
          <a:prstGeom prst="line">
            <a:avLst/>
          </a:prstGeom>
          <a:ln w="1524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8883112" y="2039112"/>
            <a:ext cx="96296" cy="52606"/>
          </a:xfrm>
          <a:prstGeom prst="line">
            <a:avLst/>
          </a:prstGeom>
          <a:ln w="2286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8883112" y="1986505"/>
            <a:ext cx="96296" cy="52607"/>
          </a:xfrm>
          <a:prstGeom prst="line">
            <a:avLst/>
          </a:prstGeom>
          <a:ln w="2286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8796528" y="1828800"/>
            <a:ext cx="420624" cy="420624"/>
          </a:xfrm>
          <a:prstGeom prst="ellipse">
            <a:avLst/>
          </a:prstGeom>
          <a:solidFill>
            <a:srgbClr val="507EFF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96528" y="1828800"/>
            <a:ext cx="420624" cy="42062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070D18"/>
                </a:solidFill>
                <a:latin typeface="Aptos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1719072"/>
            <a:ext cx="100584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Explain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2029968"/>
            <a:ext cx="1005840" cy="5669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80" b="0" i="0">
                <a:solidFill>
                  <a:srgbClr val="A4B2C5"/>
                </a:solidFill>
                <a:latin typeface="Aptos"/>
              </a:rPr>
              <a:t>Confidence + alternatives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332720" y="2039112"/>
            <a:ext cx="274320" cy="0"/>
          </a:xfrm>
          <a:prstGeom prst="line">
            <a:avLst/>
          </a:prstGeom>
          <a:ln w="1524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10510744" y="2039112"/>
            <a:ext cx="96296" cy="52606"/>
          </a:xfrm>
          <a:prstGeom prst="line">
            <a:avLst/>
          </a:prstGeom>
          <a:ln w="2286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10510744" y="1986505"/>
            <a:ext cx="96296" cy="52607"/>
          </a:xfrm>
          <a:prstGeom prst="line">
            <a:avLst/>
          </a:prstGeom>
          <a:ln w="2286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10424160" y="1828800"/>
            <a:ext cx="420624" cy="420624"/>
          </a:xfrm>
          <a:prstGeom prst="ellipse">
            <a:avLst/>
          </a:prstGeom>
          <a:solidFill>
            <a:srgbClr val="507EFF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424160" y="1828800"/>
            <a:ext cx="420624" cy="42062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070D18"/>
                </a:solidFill>
                <a:latin typeface="Aptos"/>
              </a:rPr>
              <a:t>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54512" y="1719072"/>
            <a:ext cx="100584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Export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54512" y="2029968"/>
            <a:ext cx="1005840" cy="5669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80" b="0" i="0">
                <a:solidFill>
                  <a:srgbClr val="A4B2C5"/>
                </a:solidFill>
                <a:latin typeface="Aptos"/>
              </a:rPr>
              <a:t>API / EMR-ready JSON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3200400"/>
            <a:ext cx="10698480" cy="164592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0120" y="3456432"/>
            <a:ext cx="201168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31D3DD"/>
                </a:solidFill>
                <a:latin typeface="Aptos"/>
              </a:rPr>
              <a:t>DESIGN RULE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" y="3822191"/>
            <a:ext cx="987552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F5F8FC"/>
                </a:solidFill>
                <a:latin typeface="Aptos"/>
              </a:rPr>
              <a:t>The clinician never needs to know the exact code. The system should make the standardized mapping discoverable, reviewable and exportable.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94360" y="6446520"/>
            <a:ext cx="11000232" cy="0"/>
          </a:xfrm>
          <a:prstGeom prst="line">
            <a:avLst/>
          </a:prstGeom>
          <a:ln w="1016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21792" y="6492240"/>
            <a:ext cx="106070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19" b="0" i="0">
                <a:solidFill>
                  <a:srgbClr val="A4B2C5"/>
                </a:solidFill>
                <a:latin typeface="Aptos"/>
              </a:rPr>
              <a:t>Hackathon concept • Proposed architecture • Not a clinical decision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13816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31D3DD"/>
                </a:solidFill>
                <a:latin typeface="Aptos"/>
              </a:rPr>
              <a:t>06 • NLP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ptos"/>
              </a:rPr>
              <a:t>NLP is the front door to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6984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A4B2C5"/>
                </a:solidFill>
                <a:latin typeface="Aptos"/>
              </a:rPr>
              <a:t>It converts human language into structured clinical meaning.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A4B2C5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828800" cy="777240"/>
          </a:xfrm>
          <a:prstGeom prst="roundRect">
            <a:avLst>
              <a:gd name="adj" fmla="val 12000"/>
            </a:avLst>
          </a:prstGeom>
          <a:solidFill>
            <a:srgbClr val="142237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883664"/>
            <a:ext cx="1682496" cy="6675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Aptos"/>
              </a:rPr>
              <a:t>Raw text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78608" y="2212848"/>
            <a:ext cx="393192" cy="0"/>
          </a:xfrm>
          <a:prstGeom prst="line">
            <a:avLst/>
          </a:prstGeom>
          <a:ln w="2540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2875504" y="2212848"/>
            <a:ext cx="96296" cy="52606"/>
          </a:xfrm>
          <a:prstGeom prst="line">
            <a:avLst/>
          </a:prstGeom>
          <a:ln w="2286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2875504" y="2160241"/>
            <a:ext cx="96296" cy="52607"/>
          </a:xfrm>
          <a:prstGeom prst="line">
            <a:avLst/>
          </a:prstGeom>
          <a:ln w="2286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017520" y="1828800"/>
            <a:ext cx="2011680" cy="777240"/>
          </a:xfrm>
          <a:prstGeom prst="roundRect">
            <a:avLst>
              <a:gd name="adj" fmla="val 12000"/>
            </a:avLst>
          </a:prstGeom>
          <a:solidFill>
            <a:srgbClr val="142237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1883664"/>
            <a:ext cx="1865376" cy="6675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Aptos"/>
              </a:rPr>
              <a:t>Normalize
terms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93208" y="2212848"/>
            <a:ext cx="393192" cy="0"/>
          </a:xfrm>
          <a:prstGeom prst="line">
            <a:avLst/>
          </a:prstGeom>
          <a:ln w="2540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390104" y="2212848"/>
            <a:ext cx="96296" cy="52606"/>
          </a:xfrm>
          <a:prstGeom prst="line">
            <a:avLst/>
          </a:prstGeom>
          <a:ln w="2286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5390104" y="2160241"/>
            <a:ext cx="96296" cy="52607"/>
          </a:xfrm>
          <a:prstGeom prst="line">
            <a:avLst/>
          </a:prstGeom>
          <a:ln w="2286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532120" y="1828800"/>
            <a:ext cx="2011680" cy="777240"/>
          </a:xfrm>
          <a:prstGeom prst="roundRect">
            <a:avLst>
              <a:gd name="adj" fmla="val 12000"/>
            </a:avLst>
          </a:prstGeom>
          <a:solidFill>
            <a:srgbClr val="142237"/>
          </a:solidFill>
          <a:ln>
            <a:solidFill>
              <a:srgbClr val="A0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05272" y="1883664"/>
            <a:ext cx="1865376" cy="6675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Aptos"/>
              </a:rPr>
              <a:t>Extract
concepts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07808" y="2212848"/>
            <a:ext cx="393192" cy="0"/>
          </a:xfrm>
          <a:prstGeom prst="line">
            <a:avLst/>
          </a:prstGeom>
          <a:ln w="2540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904704" y="2212848"/>
            <a:ext cx="96296" cy="52606"/>
          </a:xfrm>
          <a:prstGeom prst="line">
            <a:avLst/>
          </a:prstGeom>
          <a:ln w="2286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7904704" y="2160241"/>
            <a:ext cx="96296" cy="52607"/>
          </a:xfrm>
          <a:prstGeom prst="line">
            <a:avLst/>
          </a:prstGeom>
          <a:ln w="2286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46720" y="1828800"/>
            <a:ext cx="1828800" cy="777240"/>
          </a:xfrm>
          <a:prstGeom prst="roundRect">
            <a:avLst>
              <a:gd name="adj" fmla="val 12000"/>
            </a:avLst>
          </a:prstGeom>
          <a:solidFill>
            <a:srgbClr val="142237"/>
          </a:solidFill>
          <a:ln>
            <a:solidFill>
              <a:srgbClr val="47D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9872" y="1883664"/>
            <a:ext cx="1682496" cy="6675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Aptos"/>
              </a:rPr>
              <a:t>Embed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939528" y="2212848"/>
            <a:ext cx="393192" cy="0"/>
          </a:xfrm>
          <a:prstGeom prst="line">
            <a:avLst/>
          </a:prstGeom>
          <a:ln w="2540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0236424" y="2212848"/>
            <a:ext cx="96296" cy="52606"/>
          </a:xfrm>
          <a:prstGeom prst="line">
            <a:avLst/>
          </a:prstGeom>
          <a:ln w="2286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10236424" y="2160241"/>
            <a:ext cx="96296" cy="52607"/>
          </a:xfrm>
          <a:prstGeom prst="line">
            <a:avLst/>
          </a:prstGeom>
          <a:ln w="2286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378440" y="1828800"/>
            <a:ext cx="1143000" cy="777240"/>
          </a:xfrm>
          <a:prstGeom prst="roundRect">
            <a:avLst>
              <a:gd name="adj" fmla="val 12000"/>
            </a:avLst>
          </a:prstGeom>
          <a:solidFill>
            <a:srgbClr val="142237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51592" y="1883664"/>
            <a:ext cx="996696" cy="6675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Aptos"/>
              </a:rPr>
              <a:t>Search</a:t>
            </a:r>
          </a:p>
        </p:txBody>
      </p:sp>
      <p:sp>
        <p:nvSpPr>
          <p:cNvPr id="28" name="Oval 27"/>
          <p:cNvSpPr/>
          <p:nvPr/>
        </p:nvSpPr>
        <p:spPr>
          <a:xfrm>
            <a:off x="777240" y="3099816"/>
            <a:ext cx="82296" cy="82296"/>
          </a:xfrm>
          <a:prstGeom prst="ellipse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3063240"/>
            <a:ext cx="4864608" cy="42062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5F8FC"/>
                </a:solidFill>
                <a:latin typeface="Aptos"/>
              </a:rPr>
              <a:t>Synonym + transliteration tolerance</a:t>
            </a:r>
          </a:p>
        </p:txBody>
      </p:sp>
      <p:sp>
        <p:nvSpPr>
          <p:cNvPr id="30" name="Oval 29"/>
          <p:cNvSpPr/>
          <p:nvPr/>
        </p:nvSpPr>
        <p:spPr>
          <a:xfrm>
            <a:off x="777240" y="3630168"/>
            <a:ext cx="82296" cy="82296"/>
          </a:xfrm>
          <a:prstGeom prst="ellipse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" y="3593592"/>
            <a:ext cx="4864608" cy="42062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5F8FC"/>
                </a:solidFill>
                <a:latin typeface="Aptos"/>
              </a:rPr>
              <a:t>Context-aware concept extraction</a:t>
            </a:r>
          </a:p>
        </p:txBody>
      </p:sp>
      <p:sp>
        <p:nvSpPr>
          <p:cNvPr id="32" name="Oval 31"/>
          <p:cNvSpPr/>
          <p:nvPr/>
        </p:nvSpPr>
        <p:spPr>
          <a:xfrm>
            <a:off x="777240" y="4160520"/>
            <a:ext cx="82296" cy="82296"/>
          </a:xfrm>
          <a:prstGeom prst="ellipse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" y="4123944"/>
            <a:ext cx="4864608" cy="42062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5F8FC"/>
                </a:solidFill>
                <a:latin typeface="Aptos"/>
              </a:rPr>
              <a:t>Entity linking to canonical terminology</a:t>
            </a:r>
          </a:p>
        </p:txBody>
      </p:sp>
      <p:sp>
        <p:nvSpPr>
          <p:cNvPr id="34" name="Oval 33"/>
          <p:cNvSpPr/>
          <p:nvPr/>
        </p:nvSpPr>
        <p:spPr>
          <a:xfrm>
            <a:off x="777240" y="4690872"/>
            <a:ext cx="82296" cy="82296"/>
          </a:xfrm>
          <a:prstGeom prst="ellipse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" y="4654296"/>
            <a:ext cx="4864608" cy="42062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5F8FC"/>
                </a:solidFill>
                <a:latin typeface="Aptos"/>
              </a:rPr>
              <a:t>Multilingual-ready normalization layer</a:t>
            </a:r>
          </a:p>
        </p:txBody>
      </p:sp>
      <p:sp>
        <p:nvSpPr>
          <p:cNvPr id="36" name="Oval 35"/>
          <p:cNvSpPr/>
          <p:nvPr/>
        </p:nvSpPr>
        <p:spPr>
          <a:xfrm>
            <a:off x="6126480" y="3099816"/>
            <a:ext cx="82296" cy="82296"/>
          </a:xfrm>
          <a:prstGeom prst="ellipse">
            <a:avLst/>
          </a:prstGeom>
          <a:solidFill>
            <a:srgbClr val="507EFF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91072" y="3063240"/>
            <a:ext cx="4681728" cy="42062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5F8FC"/>
                </a:solidFill>
                <a:latin typeface="Aptos"/>
              </a:rPr>
              <a:t>Embeddings enable semantic retrieval.</a:t>
            </a:r>
          </a:p>
        </p:txBody>
      </p:sp>
      <p:sp>
        <p:nvSpPr>
          <p:cNvPr id="38" name="Oval 37"/>
          <p:cNvSpPr/>
          <p:nvPr/>
        </p:nvSpPr>
        <p:spPr>
          <a:xfrm>
            <a:off x="6126480" y="3630168"/>
            <a:ext cx="82296" cy="82296"/>
          </a:xfrm>
          <a:prstGeom prst="ellipse">
            <a:avLst/>
          </a:prstGeom>
          <a:solidFill>
            <a:srgbClr val="507EFF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91072" y="3593592"/>
            <a:ext cx="4681728" cy="42062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5F8FC"/>
                </a:solidFill>
                <a:latin typeface="Aptos"/>
              </a:rPr>
              <a:t>NLP does not decide the final code alone.</a:t>
            </a:r>
          </a:p>
        </p:txBody>
      </p:sp>
      <p:sp>
        <p:nvSpPr>
          <p:cNvPr id="40" name="Oval 39"/>
          <p:cNvSpPr/>
          <p:nvPr/>
        </p:nvSpPr>
        <p:spPr>
          <a:xfrm>
            <a:off x="6126480" y="4160520"/>
            <a:ext cx="82296" cy="82296"/>
          </a:xfrm>
          <a:prstGeom prst="ellipse">
            <a:avLst/>
          </a:prstGeom>
          <a:solidFill>
            <a:srgbClr val="507EFF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91072" y="4123944"/>
            <a:ext cx="4681728" cy="42062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5F8FC"/>
                </a:solidFill>
                <a:latin typeface="Aptos"/>
              </a:rPr>
              <a:t>Every candidate must carry evidence.</a:t>
            </a:r>
          </a:p>
        </p:txBody>
      </p:sp>
      <p:sp>
        <p:nvSpPr>
          <p:cNvPr id="42" name="Oval 41"/>
          <p:cNvSpPr/>
          <p:nvPr/>
        </p:nvSpPr>
        <p:spPr>
          <a:xfrm>
            <a:off x="6126480" y="4690872"/>
            <a:ext cx="82296" cy="82296"/>
          </a:xfrm>
          <a:prstGeom prst="ellipse">
            <a:avLst/>
          </a:prstGeom>
          <a:solidFill>
            <a:srgbClr val="507EFF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91072" y="4654296"/>
            <a:ext cx="4681728" cy="42062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5F8FC"/>
                </a:solidFill>
                <a:latin typeface="Aptos"/>
              </a:rPr>
              <a:t>Ambiguity becomes a review state—not a hallucination.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94360" y="6446520"/>
            <a:ext cx="11000232" cy="0"/>
          </a:xfrm>
          <a:prstGeom prst="line">
            <a:avLst/>
          </a:prstGeom>
          <a:ln w="1016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21792" y="6492240"/>
            <a:ext cx="106070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19" b="0" i="0">
                <a:solidFill>
                  <a:srgbClr val="A4B2C5"/>
                </a:solidFill>
                <a:latin typeface="Aptos"/>
              </a:rPr>
              <a:t>Hackathon concept • Proposed architecture • Not a clinical decision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13816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31D3DD"/>
                </a:solidFill>
                <a:latin typeface="Aptos"/>
              </a:rPr>
              <a:t>07 • RETRIEVAL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ptos"/>
              </a:rPr>
              <a:t>Hybrid retrieval beats a single search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6984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A4B2C5"/>
                </a:solidFill>
                <a:latin typeface="Aptos"/>
              </a:rPr>
              <a:t>Combine lexical, semantic and structural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A4B2C5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3383280" cy="214884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50292" cy="2148840"/>
          </a:xfrm>
          <a:prstGeom prst="rect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" y="1929384"/>
            <a:ext cx="347472" cy="347472"/>
          </a:xfrm>
          <a:prstGeom prst="ellipse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929384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1920240"/>
            <a:ext cx="26060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1 • Lexical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50008"/>
            <a:ext cx="3035808" cy="1463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A4B2C5"/>
                </a:solidFill>
                <a:latin typeface="Aptos"/>
              </a:rPr>
              <a:t>Exact terms, prefixes, spelling variants, code fragments. Fast and deterministic.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83080"/>
            <a:ext cx="3383280" cy="214884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83080"/>
            <a:ext cx="50292" cy="2148840"/>
          </a:xfrm>
          <a:prstGeom prst="rect">
            <a:avLst/>
          </a:prstGeom>
          <a:solidFill>
            <a:srgbClr val="507EFF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2000" y="1929384"/>
            <a:ext cx="347472" cy="347472"/>
          </a:xfrm>
          <a:prstGeom prst="ellipse">
            <a:avLst/>
          </a:prstGeom>
          <a:solidFill>
            <a:srgbClr val="507EFF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929384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920240"/>
            <a:ext cx="26060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2 • Vector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350008"/>
            <a:ext cx="3035808" cy="1463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A4B2C5"/>
                </a:solidFill>
                <a:latin typeface="Aptos"/>
              </a:rPr>
              <a:t>Embeddings retrieve concepts with similar meaning even when wording differs.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9016" y="1783080"/>
            <a:ext cx="3383280" cy="214884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29016" y="1783080"/>
            <a:ext cx="50292" cy="2148840"/>
          </a:xfrm>
          <a:prstGeom prst="rect">
            <a:avLst/>
          </a:prstGeom>
          <a:solidFill>
            <a:srgbClr val="A064FF"/>
          </a:solidFill>
          <a:ln>
            <a:solidFill>
              <a:srgbClr val="A0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93608" y="1929384"/>
            <a:ext cx="347472" cy="347472"/>
          </a:xfrm>
          <a:prstGeom prst="ellipse">
            <a:avLst/>
          </a:prstGeom>
          <a:solidFill>
            <a:srgbClr val="A064FF"/>
          </a:solidFill>
          <a:ln>
            <a:solidFill>
              <a:srgbClr val="A0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1929384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0808" y="1920240"/>
            <a:ext cx="26060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3 • Knowledge 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4" y="2350008"/>
            <a:ext cx="3035808" cy="1463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A4B2C5"/>
                </a:solidFill>
                <a:latin typeface="Aptos"/>
              </a:rPr>
              <a:t>Relationships, parents, synonyms and concept links add structural context.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48840" y="4343400"/>
            <a:ext cx="7909560" cy="777240"/>
          </a:xfrm>
          <a:prstGeom prst="roundRect">
            <a:avLst>
              <a:gd name="adj" fmla="val 12000"/>
            </a:avLst>
          </a:prstGeom>
          <a:solidFill>
            <a:srgbClr val="142237"/>
          </a:solidFill>
          <a:ln>
            <a:solidFill>
              <a:srgbClr val="47D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21992" y="4398264"/>
            <a:ext cx="7763256" cy="6675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5F8FC"/>
                </a:solidFill>
                <a:latin typeface="Aptos"/>
              </a:rPr>
              <a:t>Candidate fusion → reranking → validation → explainable mapping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94360" y="6446520"/>
            <a:ext cx="11000232" cy="0"/>
          </a:xfrm>
          <a:prstGeom prst="line">
            <a:avLst/>
          </a:prstGeom>
          <a:ln w="1016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21792" y="6492240"/>
            <a:ext cx="106070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19" b="0" i="0">
                <a:solidFill>
                  <a:srgbClr val="A4B2C5"/>
                </a:solidFill>
                <a:latin typeface="Aptos"/>
              </a:rPr>
              <a:t>Hackathon concept • Proposed architecture • Not a clinical decision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13816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31D3DD"/>
                </a:solidFill>
                <a:latin typeface="Aptos"/>
              </a:rPr>
              <a:t>08 • KNOWLEDGE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ptos"/>
              </a:rPr>
              <a:t>Turn the terminology into a graph, not a spreadsheet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6984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A4B2C5"/>
                </a:solidFill>
                <a:latin typeface="Aptos"/>
              </a:rPr>
              <a:t>Graph structure is what lets the system reason over relationships.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A4B2C5"/>
                </a:solidFill>
                <a:latin typeface="Aptos"/>
              </a:rPr>
              <a:t>09</a:t>
            </a:r>
          </a:p>
        </p:txBody>
      </p:sp>
      <p:sp>
        <p:nvSpPr>
          <p:cNvPr id="6" name="Oval 5"/>
          <p:cNvSpPr/>
          <p:nvPr/>
        </p:nvSpPr>
        <p:spPr>
          <a:xfrm>
            <a:off x="5394960" y="2331720"/>
            <a:ext cx="914400" cy="914400"/>
          </a:xfrm>
          <a:prstGeom prst="ellipse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0" y="2331720"/>
            <a:ext cx="914400" cy="9144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070D18"/>
                </a:solidFill>
                <a:latin typeface="Aptos"/>
              </a:rPr>
              <a:t>Concept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1554480"/>
            <a:ext cx="1828800" cy="685800"/>
          </a:xfrm>
          <a:prstGeom prst="roundRect">
            <a:avLst>
              <a:gd name="adj" fmla="val 12000"/>
            </a:avLst>
          </a:prstGeom>
          <a:solidFill>
            <a:srgbClr val="142237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01952" y="1609344"/>
            <a:ext cx="1682496" cy="5760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50" b="1" i="0">
                <a:solidFill>
                  <a:srgbClr val="F5F8FC"/>
                </a:solidFill>
                <a:latin typeface="Aptos"/>
              </a:rPr>
              <a:t>Traditional
term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743200" y="1901952"/>
            <a:ext cx="3108960" cy="886968"/>
          </a:xfrm>
          <a:prstGeom prst="line">
            <a:avLst/>
          </a:prstGeom>
          <a:ln w="1524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920240" y="3657600"/>
            <a:ext cx="1828800" cy="685800"/>
          </a:xfrm>
          <a:prstGeom prst="roundRect">
            <a:avLst>
              <a:gd name="adj" fmla="val 12000"/>
            </a:avLst>
          </a:prstGeom>
          <a:solidFill>
            <a:srgbClr val="142237"/>
          </a:solidFill>
          <a:ln>
            <a:solidFill>
              <a:srgbClr val="A0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93392" y="3712463"/>
            <a:ext cx="1682496" cy="5760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50" b="1" i="0">
                <a:solidFill>
                  <a:srgbClr val="F5F8FC"/>
                </a:solidFill>
                <a:latin typeface="Aptos"/>
              </a:rPr>
              <a:t>Synonym /
transliteration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2834640" y="2788920"/>
            <a:ext cx="3017520" cy="1216152"/>
          </a:xfrm>
          <a:prstGeom prst="line">
            <a:avLst/>
          </a:prstGeom>
          <a:ln w="1524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72000" y="914400"/>
            <a:ext cx="1828800" cy="685800"/>
          </a:xfrm>
          <a:prstGeom prst="roundRect">
            <a:avLst>
              <a:gd name="adj" fmla="val 12000"/>
            </a:avLst>
          </a:prstGeom>
          <a:solidFill>
            <a:srgbClr val="142237"/>
          </a:solidFill>
          <a:ln>
            <a:solidFill>
              <a:srgbClr val="47D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969264"/>
            <a:ext cx="1682496" cy="5760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50" b="1" i="0">
                <a:solidFill>
                  <a:srgbClr val="F5F8FC"/>
                </a:solidFill>
                <a:latin typeface="Aptos"/>
              </a:rPr>
              <a:t>Definition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5486400" y="1261872"/>
            <a:ext cx="365760" cy="1527048"/>
          </a:xfrm>
          <a:prstGeom prst="line">
            <a:avLst/>
          </a:prstGeom>
          <a:ln w="1524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680960" y="1280160"/>
            <a:ext cx="1828800" cy="685800"/>
          </a:xfrm>
          <a:prstGeom prst="roundRect">
            <a:avLst>
              <a:gd name="adj" fmla="val 12000"/>
            </a:avLst>
          </a:prstGeom>
          <a:solidFill>
            <a:srgbClr val="142237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54112" y="1335024"/>
            <a:ext cx="1682496" cy="5760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50" b="1" i="0">
                <a:solidFill>
                  <a:srgbClr val="F5F8FC"/>
                </a:solidFill>
                <a:latin typeface="Aptos"/>
              </a:rPr>
              <a:t>Symptom /
context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5852160" y="1627631"/>
            <a:ext cx="2743200" cy="1161289"/>
          </a:xfrm>
          <a:prstGeom prst="line">
            <a:avLst/>
          </a:prstGeom>
          <a:ln w="1524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321040" y="3474720"/>
            <a:ext cx="1828800" cy="685800"/>
          </a:xfrm>
          <a:prstGeom prst="roundRect">
            <a:avLst>
              <a:gd name="adj" fmla="val 12000"/>
            </a:avLst>
          </a:prstGeom>
          <a:solidFill>
            <a:srgbClr val="142237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3529584"/>
            <a:ext cx="1682496" cy="5760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50" b="1" i="0">
                <a:solidFill>
                  <a:srgbClr val="F5F8FC"/>
                </a:solidFill>
                <a:latin typeface="Aptos"/>
              </a:rPr>
              <a:t>NAMASTE
concept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852160" y="2788920"/>
            <a:ext cx="3383280" cy="1033271"/>
          </a:xfrm>
          <a:prstGeom prst="line">
            <a:avLst/>
          </a:prstGeom>
          <a:ln w="1524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486400" y="4389120"/>
            <a:ext cx="1828800" cy="685800"/>
          </a:xfrm>
          <a:prstGeom prst="roundRect">
            <a:avLst>
              <a:gd name="adj" fmla="val 12000"/>
            </a:avLst>
          </a:prstGeom>
          <a:solidFill>
            <a:srgbClr val="142237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59552" y="4443983"/>
            <a:ext cx="1682496" cy="5760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50" b="1" i="0">
                <a:solidFill>
                  <a:srgbClr val="F5F8FC"/>
                </a:solidFill>
                <a:latin typeface="Aptos"/>
              </a:rPr>
              <a:t>ICD-11
concept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852160" y="2788920"/>
            <a:ext cx="548640" cy="1947672"/>
          </a:xfrm>
          <a:prstGeom prst="line">
            <a:avLst/>
          </a:prstGeom>
          <a:ln w="1524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" y="5486400"/>
            <a:ext cx="1051560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A4B2C5"/>
                </a:solidFill>
                <a:latin typeface="Aptos"/>
              </a:rPr>
              <a:t>Graph query example: “show all candidate concepts connected to this traditional term through synonym, definition or mapped-code relationships.”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6446520"/>
            <a:ext cx="11000232" cy="0"/>
          </a:xfrm>
          <a:prstGeom prst="line">
            <a:avLst/>
          </a:prstGeom>
          <a:ln w="1016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21792" y="6492240"/>
            <a:ext cx="106070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19" b="0" i="0">
                <a:solidFill>
                  <a:srgbClr val="A4B2C5"/>
                </a:solidFill>
                <a:latin typeface="Aptos"/>
              </a:rPr>
              <a:t>Hackathon concept • Proposed architecture • Not a clinical decision 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13816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31D3DD"/>
                </a:solidFill>
                <a:latin typeface="Aptos"/>
              </a:rPr>
              <a:t>09 •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ptos"/>
              </a:rPr>
              <a:t>RAG makes the explanation evidence-backed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6984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A4B2C5"/>
                </a:solidFill>
                <a:latin typeface="Aptos"/>
              </a:rPr>
              <a:t>The LLM should synthesize retrieved evidence—not invent mappings.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A4B2C5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828800" cy="731520"/>
          </a:xfrm>
          <a:prstGeom prst="roundRect">
            <a:avLst>
              <a:gd name="adj" fmla="val 12000"/>
            </a:avLst>
          </a:prstGeom>
          <a:solidFill>
            <a:srgbClr val="142237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83664"/>
            <a:ext cx="1682496" cy="6217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Aptos"/>
              </a:rPr>
              <a:t>User query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1760" y="2194560"/>
            <a:ext cx="365760" cy="0"/>
          </a:xfrm>
          <a:prstGeom prst="line">
            <a:avLst/>
          </a:prstGeom>
          <a:ln w="2540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2921224" y="2194560"/>
            <a:ext cx="96296" cy="52606"/>
          </a:xfrm>
          <a:prstGeom prst="line">
            <a:avLst/>
          </a:prstGeom>
          <a:ln w="2286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2921224" y="2141953"/>
            <a:ext cx="96296" cy="52607"/>
          </a:xfrm>
          <a:prstGeom prst="line">
            <a:avLst/>
          </a:prstGeom>
          <a:ln w="2286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063240" y="1828800"/>
            <a:ext cx="1920240" cy="731520"/>
          </a:xfrm>
          <a:prstGeom prst="roundRect">
            <a:avLst>
              <a:gd name="adj" fmla="val 12000"/>
            </a:avLst>
          </a:prstGeom>
          <a:solidFill>
            <a:srgbClr val="142237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36392" y="1883664"/>
            <a:ext cx="1773936" cy="6217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Aptos"/>
              </a:rPr>
              <a:t>Retriever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74920" y="2194560"/>
            <a:ext cx="365760" cy="0"/>
          </a:xfrm>
          <a:prstGeom prst="line">
            <a:avLst/>
          </a:prstGeom>
          <a:ln w="2540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344384" y="2194560"/>
            <a:ext cx="96296" cy="52606"/>
          </a:xfrm>
          <a:prstGeom prst="line">
            <a:avLst/>
          </a:prstGeom>
          <a:ln w="2286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5344384" y="2141953"/>
            <a:ext cx="96296" cy="52607"/>
          </a:xfrm>
          <a:prstGeom prst="line">
            <a:avLst/>
          </a:prstGeom>
          <a:ln w="2286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86400" y="1828800"/>
            <a:ext cx="1920240" cy="731520"/>
          </a:xfrm>
          <a:prstGeom prst="roundRect">
            <a:avLst>
              <a:gd name="adj" fmla="val 12000"/>
            </a:avLst>
          </a:prstGeom>
          <a:solidFill>
            <a:srgbClr val="142237"/>
          </a:solidFill>
          <a:ln>
            <a:solidFill>
              <a:srgbClr val="A0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9552" y="1883664"/>
            <a:ext cx="1773936" cy="6217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Aptos"/>
              </a:rPr>
              <a:t>Evidence
bundle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98079" y="2194560"/>
            <a:ext cx="365761" cy="0"/>
          </a:xfrm>
          <a:prstGeom prst="line">
            <a:avLst/>
          </a:prstGeom>
          <a:ln w="2540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767544" y="2194560"/>
            <a:ext cx="96296" cy="52606"/>
          </a:xfrm>
          <a:prstGeom prst="line">
            <a:avLst/>
          </a:prstGeom>
          <a:ln w="2286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7767544" y="2141953"/>
            <a:ext cx="96296" cy="52607"/>
          </a:xfrm>
          <a:prstGeom prst="line">
            <a:avLst/>
          </a:prstGeom>
          <a:ln w="2286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909560" y="1828800"/>
            <a:ext cx="1920240" cy="731520"/>
          </a:xfrm>
          <a:prstGeom prst="roundRect">
            <a:avLst>
              <a:gd name="adj" fmla="val 12000"/>
            </a:avLst>
          </a:prstGeom>
          <a:solidFill>
            <a:srgbClr val="142237"/>
          </a:solidFill>
          <a:ln>
            <a:solidFill>
              <a:srgbClr val="47D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82712" y="1883664"/>
            <a:ext cx="1773936" cy="6217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Aptos"/>
              </a:rPr>
              <a:t>LLM
reasoning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921240" y="2194560"/>
            <a:ext cx="365760" cy="0"/>
          </a:xfrm>
          <a:prstGeom prst="line">
            <a:avLst/>
          </a:prstGeom>
          <a:ln w="2540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0190704" y="2194560"/>
            <a:ext cx="96296" cy="52606"/>
          </a:xfrm>
          <a:prstGeom prst="line">
            <a:avLst/>
          </a:prstGeom>
          <a:ln w="2286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10190704" y="2141953"/>
            <a:ext cx="96296" cy="52607"/>
          </a:xfrm>
          <a:prstGeom prst="line">
            <a:avLst/>
          </a:prstGeom>
          <a:ln w="2286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332720" y="1828800"/>
            <a:ext cx="1188720" cy="731520"/>
          </a:xfrm>
          <a:prstGeom prst="roundRect">
            <a:avLst>
              <a:gd name="adj" fmla="val 12000"/>
            </a:avLst>
          </a:prstGeom>
          <a:solidFill>
            <a:srgbClr val="142237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05872" y="1883664"/>
            <a:ext cx="1042416" cy="6217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Aptos"/>
              </a:rPr>
              <a:t>Result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3246120"/>
            <a:ext cx="4937760" cy="164592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3246120"/>
            <a:ext cx="50292" cy="1645920"/>
          </a:xfrm>
          <a:prstGeom prst="rect">
            <a:avLst/>
          </a:prstGeom>
          <a:solidFill>
            <a:srgbClr val="507EFF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1832" y="3392424"/>
            <a:ext cx="347472" cy="347472"/>
          </a:xfrm>
          <a:prstGeom prst="ellipse">
            <a:avLst/>
          </a:prstGeom>
          <a:solidFill>
            <a:srgbClr val="507EFF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" y="3392424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99032" y="3383279"/>
            <a:ext cx="41605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Evidence bundle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" y="3813048"/>
            <a:ext cx="4590288" cy="9601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A4B2C5"/>
                </a:solidFill>
                <a:latin typeface="Aptos"/>
              </a:rPr>
              <a:t>Candidate definition • terminology record • graph relations • source/version • similarity score • coding constraints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3246120"/>
            <a:ext cx="4983480" cy="164592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3246120"/>
            <a:ext cx="50292" cy="1645920"/>
          </a:xfrm>
          <a:prstGeom prst="rect">
            <a:avLst/>
          </a:prstGeom>
          <a:solidFill>
            <a:srgbClr val="FF5F6E"/>
          </a:solidFill>
          <a:ln>
            <a:solidFill>
              <a:srgbClr val="FF5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336792" y="3392424"/>
            <a:ext cx="347472" cy="347472"/>
          </a:xfrm>
          <a:prstGeom prst="ellipse">
            <a:avLst/>
          </a:prstGeom>
          <a:solidFill>
            <a:srgbClr val="FF5F6E"/>
          </a:solidFill>
          <a:ln>
            <a:solidFill>
              <a:srgbClr val="FF5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6792" y="3392424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93992" y="3383279"/>
            <a:ext cx="42062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Guardrail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3368" y="3813048"/>
            <a:ext cx="4636008" cy="9601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A4B2C5"/>
                </a:solidFill>
                <a:latin typeface="Aptos"/>
              </a:rPr>
              <a:t>If evidence is weak or candidates conflict, the system returns REVIEW rather than fabricating certainty.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94360" y="6446520"/>
            <a:ext cx="11000232" cy="0"/>
          </a:xfrm>
          <a:prstGeom prst="line">
            <a:avLst/>
          </a:prstGeom>
          <a:ln w="1016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21792" y="6492240"/>
            <a:ext cx="106070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19" b="0" i="0">
                <a:solidFill>
                  <a:srgbClr val="A4B2C5"/>
                </a:solidFill>
                <a:latin typeface="Aptos"/>
              </a:rPr>
              <a:t>Hackathon concept • Proposed architecture • Not a clinical decision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13816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31D3DD"/>
                </a:solidFill>
                <a:latin typeface="Aptos"/>
              </a:rPr>
              <a:t>10 • AGENTIC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ptos"/>
              </a:rPr>
              <a:t>Make the agent an investigator, not a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6984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A4B2C5"/>
                </a:solidFill>
                <a:latin typeface="Aptos"/>
              </a:rPr>
              <a:t>The agent orchestrates tools to produce a traceable mapping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A4B2C5"/>
                </a:solidFill>
                <a:latin typeface="Aptos"/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1828800"/>
            <a:ext cx="1234440" cy="1234440"/>
          </a:xfrm>
          <a:prstGeom prst="ellipse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57800" y="1828800"/>
            <a:ext cx="1234440" cy="12344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070D18"/>
                </a:solidFill>
                <a:latin typeface="Aptos"/>
              </a:rPr>
              <a:t>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17320"/>
            <a:ext cx="1920240" cy="685800"/>
          </a:xfrm>
          <a:prstGeom prst="roundRect">
            <a:avLst>
              <a:gd name="adj" fmla="val 12000"/>
            </a:avLst>
          </a:prstGeom>
          <a:solidFill>
            <a:srgbClr val="142237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472184"/>
            <a:ext cx="1773936" cy="5760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50" b="1" i="0">
                <a:solidFill>
                  <a:srgbClr val="F5F8FC"/>
                </a:solidFill>
                <a:latin typeface="Aptos"/>
              </a:rPr>
              <a:t>Search
NAMASTE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1874519" y="1755648"/>
            <a:ext cx="3995929" cy="694944"/>
          </a:xfrm>
          <a:prstGeom prst="line">
            <a:avLst/>
          </a:prstGeom>
          <a:ln w="1524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" y="3383280"/>
            <a:ext cx="1920240" cy="685800"/>
          </a:xfrm>
          <a:prstGeom prst="roundRect">
            <a:avLst>
              <a:gd name="adj" fmla="val 12000"/>
            </a:avLst>
          </a:prstGeom>
          <a:solidFill>
            <a:srgbClr val="142237"/>
          </a:solidFill>
          <a:ln>
            <a:solidFill>
              <a:srgbClr val="A0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438144"/>
            <a:ext cx="1773936" cy="5760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50" b="1" i="0">
                <a:solidFill>
                  <a:srgbClr val="F5F8FC"/>
                </a:solidFill>
                <a:latin typeface="Aptos"/>
              </a:rPr>
              <a:t>Search
ICD-11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1874519" y="2450592"/>
            <a:ext cx="3995929" cy="1271016"/>
          </a:xfrm>
          <a:prstGeom prst="line">
            <a:avLst/>
          </a:prstGeom>
          <a:ln w="1524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749039" y="4251960"/>
            <a:ext cx="1920240" cy="685800"/>
          </a:xfrm>
          <a:prstGeom prst="roundRect">
            <a:avLst>
              <a:gd name="adj" fmla="val 12000"/>
            </a:avLst>
          </a:prstGeom>
          <a:solidFill>
            <a:srgbClr val="142237"/>
          </a:solidFill>
          <a:ln>
            <a:solidFill>
              <a:srgbClr val="47D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22191" y="4306824"/>
            <a:ext cx="1773936" cy="5760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50" b="1" i="0">
                <a:solidFill>
                  <a:srgbClr val="F5F8FC"/>
                </a:solidFill>
                <a:latin typeface="Aptos"/>
              </a:rPr>
              <a:t>Query
Graph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4709159" y="2450592"/>
            <a:ext cx="1161289" cy="2139696"/>
          </a:xfrm>
          <a:prstGeom prst="line">
            <a:avLst/>
          </a:prstGeom>
          <a:ln w="1524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06640" y="4251960"/>
            <a:ext cx="1920240" cy="685800"/>
          </a:xfrm>
          <a:prstGeom prst="roundRect">
            <a:avLst>
              <a:gd name="adj" fmla="val 12000"/>
            </a:avLst>
          </a:prstGeom>
          <a:solidFill>
            <a:srgbClr val="142237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9792" y="4306824"/>
            <a:ext cx="1773936" cy="5760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50" b="1" i="0">
                <a:solidFill>
                  <a:srgbClr val="F5F8FC"/>
                </a:solidFill>
                <a:latin typeface="Aptos"/>
              </a:rPr>
              <a:t>Compare
Concepts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70448" y="2450592"/>
            <a:ext cx="2496312" cy="2139696"/>
          </a:xfrm>
          <a:prstGeom prst="line">
            <a:avLst/>
          </a:prstGeom>
          <a:ln w="1524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326880" y="1417320"/>
            <a:ext cx="1920240" cy="685800"/>
          </a:xfrm>
          <a:prstGeom prst="roundRect">
            <a:avLst>
              <a:gd name="adj" fmla="val 12000"/>
            </a:avLst>
          </a:prstGeom>
          <a:solidFill>
            <a:srgbClr val="142237"/>
          </a:solidFill>
          <a:ln>
            <a:solidFill>
              <a:srgbClr val="FF5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0032" y="1472184"/>
            <a:ext cx="1773936" cy="5760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50" b="1" i="0">
                <a:solidFill>
                  <a:srgbClr val="F5F8FC"/>
                </a:solidFill>
                <a:latin typeface="Aptos"/>
              </a:rPr>
              <a:t>Validate
Rules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5870448" y="1755648"/>
            <a:ext cx="4416552" cy="694944"/>
          </a:xfrm>
          <a:prstGeom prst="line">
            <a:avLst/>
          </a:prstGeom>
          <a:ln w="1524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886200" y="3337560"/>
            <a:ext cx="4389120" cy="6400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F5F8FC"/>
                </a:solidFill>
                <a:latin typeface="Aptos"/>
              </a:rPr>
              <a:t>Plan → retrieve → compare → validate → explain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" y="6446520"/>
            <a:ext cx="11000232" cy="0"/>
          </a:xfrm>
          <a:prstGeom prst="line">
            <a:avLst/>
          </a:prstGeom>
          <a:ln w="1016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21792" y="6492240"/>
            <a:ext cx="106070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19" b="0" i="0">
                <a:solidFill>
                  <a:srgbClr val="A4B2C5"/>
                </a:solidFill>
                <a:latin typeface="Aptos"/>
              </a:rPr>
              <a:t>Hackathon concept • Proposed architecture • Not a clinical decision 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13816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31D3DD"/>
                </a:solidFill>
                <a:latin typeface="Aptos"/>
              </a:rPr>
              <a:t>11 • MAPPING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ptos"/>
              </a:rPr>
              <a:t>A defensible mapping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6984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A4B2C5"/>
                </a:solidFill>
                <a:latin typeface="Aptos"/>
              </a:rPr>
              <a:t>Use a transparent ranking model instead of one opaque LLM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A4B2C5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960120"/>
          </a:xfrm>
          <a:prstGeom prst="roundRect">
            <a:avLst>
              <a:gd name="adj" fmla="val 12000"/>
            </a:avLst>
          </a:prstGeom>
          <a:solidFill>
            <a:srgbClr val="142237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56816"/>
            <a:ext cx="10149840" cy="43891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F5F8FC"/>
                </a:solidFill>
                <a:latin typeface="Aptos Mono"/>
              </a:rPr>
              <a:t>FinalScore = 0.35·Semantic + 0.20·Lexical + 0.20·Graph + 0.15·Context + 0.10·RuleFit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54680"/>
            <a:ext cx="2057400" cy="141732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154680"/>
            <a:ext cx="50292" cy="1417320"/>
          </a:xfrm>
          <a:prstGeom prst="rect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3291840"/>
            <a:ext cx="173736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Semantic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721608"/>
            <a:ext cx="1709928" cy="7315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A4B2C5"/>
                </a:solidFill>
                <a:latin typeface="Aptos"/>
              </a:rPr>
              <a:t>embedding similarity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90088" y="3154680"/>
            <a:ext cx="2057400" cy="141732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90088" y="3154680"/>
            <a:ext cx="50292" cy="1417320"/>
          </a:xfrm>
          <a:prstGeom prst="rect">
            <a:avLst/>
          </a:prstGeom>
          <a:solidFill>
            <a:srgbClr val="507EFF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91256" y="3291840"/>
            <a:ext cx="173736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Lexical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91256" y="3721608"/>
            <a:ext cx="1709928" cy="7315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A4B2C5"/>
                </a:solidFill>
                <a:latin typeface="Aptos"/>
              </a:rPr>
              <a:t>exact / normalized term match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57216" y="3154680"/>
            <a:ext cx="2057400" cy="141732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57216" y="3154680"/>
            <a:ext cx="50292" cy="1417320"/>
          </a:xfrm>
          <a:prstGeom prst="rect">
            <a:avLst/>
          </a:prstGeom>
          <a:solidFill>
            <a:srgbClr val="A064FF"/>
          </a:solidFill>
          <a:ln>
            <a:solidFill>
              <a:srgbClr val="A0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8384" y="3291840"/>
            <a:ext cx="173736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Graph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8384" y="3721608"/>
            <a:ext cx="1709928" cy="7315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A4B2C5"/>
                </a:solidFill>
                <a:latin typeface="Aptos"/>
              </a:rPr>
              <a:t>relationship consistency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24344" y="3154680"/>
            <a:ext cx="2057400" cy="141732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24344" y="3154680"/>
            <a:ext cx="50292" cy="1417320"/>
          </a:xfrm>
          <a:prstGeom prst="rect">
            <a:avLst/>
          </a:prstGeom>
          <a:solidFill>
            <a:srgbClr val="47D697"/>
          </a:solidFill>
          <a:ln>
            <a:solidFill>
              <a:srgbClr val="47D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25512" y="3291840"/>
            <a:ext cx="173736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5512" y="3721608"/>
            <a:ext cx="1709928" cy="7315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A4B2C5"/>
                </a:solidFill>
                <a:latin typeface="Aptos"/>
              </a:rPr>
              <a:t>clinical context compatibility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91472" y="3154680"/>
            <a:ext cx="2057400" cy="141732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91472" y="3154680"/>
            <a:ext cx="50292" cy="1417320"/>
          </a:xfrm>
          <a:prstGeom prst="rect">
            <a:avLst/>
          </a:prstGeom>
          <a:solidFill>
            <a:srgbClr val="FFB84D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3291840"/>
            <a:ext cx="173736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RuleFit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3721608"/>
            <a:ext cx="1709928" cy="7315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A4B2C5"/>
                </a:solidFill>
                <a:latin typeface="Aptos"/>
              </a:rPr>
              <a:t>coding constraints / guardrails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983480"/>
            <a:ext cx="10332720" cy="6400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50" b="0" i="1">
                <a:solidFill>
                  <a:srgbClr val="A4B2C5"/>
                </a:solidFill>
                <a:latin typeface="Aptos"/>
              </a:rPr>
              <a:t>Important: the displayed confidence should be described as a system confidence / ranking signal—not a guarantee of clinical correctness.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4360" y="6446520"/>
            <a:ext cx="11000232" cy="0"/>
          </a:xfrm>
          <a:prstGeom prst="line">
            <a:avLst/>
          </a:prstGeom>
          <a:ln w="1016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1792" y="6492240"/>
            <a:ext cx="106070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19" b="0" i="0">
                <a:solidFill>
                  <a:srgbClr val="A4B2C5"/>
                </a:solidFill>
                <a:latin typeface="Aptos"/>
              </a:rPr>
              <a:t>Hackathon concept • Proposed architecture • Not a clinical decision system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13816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31D3DD"/>
                </a:solidFill>
                <a:latin typeface="Aptos"/>
              </a:rPr>
              <a:t>12 • EXPLAINABILITY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ptos"/>
              </a:rPr>
              <a:t>The output is an evidence packet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6984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A4B2C5"/>
                </a:solidFill>
                <a:latin typeface="Aptos"/>
              </a:rPr>
              <a:t>This is the screen judges should remember.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A4B2C5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652760" cy="425196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47088"/>
            <a:ext cx="365760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31D3DD"/>
                </a:solidFill>
                <a:latin typeface="Aptos"/>
              </a:rPr>
              <a:t>MAPPING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21992"/>
            <a:ext cx="475488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F5F8FC"/>
                </a:solidFill>
                <a:latin typeface="Aptos"/>
              </a:rPr>
              <a:t>Primary candidate • [CODE / CONCEPT]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61488"/>
            <a:ext cx="182880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A4B2C5"/>
                </a:solidFill>
                <a:latin typeface="Aptos"/>
              </a:rPr>
              <a:t>SYSTEM 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017520"/>
            <a:ext cx="109728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700" b="1" i="0">
                <a:solidFill>
                  <a:srgbClr val="47D697"/>
                </a:solidFill>
                <a:latin typeface="Aptos"/>
              </a:rPr>
              <a:t>94.2%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761488"/>
            <a:ext cx="182880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A4B2C5"/>
                </a:solidFill>
                <a:latin typeface="Aptos"/>
              </a:rPr>
              <a:t>REVIEW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17520"/>
            <a:ext cx="182880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FFB84D"/>
                </a:solidFill>
                <a:latin typeface="Aptos"/>
              </a:rPr>
              <a:t>CLINICIAN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847088"/>
            <a:ext cx="43891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07EFF"/>
                </a:solidFill>
                <a:latin typeface="Aptos"/>
              </a:rPr>
              <a:t>WHY THIS MAPPING?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0" y="2249424"/>
            <a:ext cx="82296" cy="82296"/>
          </a:xfrm>
          <a:prstGeom prst="ellipse">
            <a:avLst/>
          </a:prstGeom>
          <a:solidFill>
            <a:srgbClr val="507EFF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33872" y="2212848"/>
            <a:ext cx="4407408" cy="42062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F5F8FC"/>
                </a:solidFill>
                <a:latin typeface="Aptos"/>
              </a:rPr>
              <a:t>Semantic evidence matched the candidate concept.</a:t>
            </a:r>
          </a:p>
        </p:txBody>
      </p:sp>
      <p:sp>
        <p:nvSpPr>
          <p:cNvPr id="16" name="Oval 15"/>
          <p:cNvSpPr/>
          <p:nvPr/>
        </p:nvSpPr>
        <p:spPr>
          <a:xfrm>
            <a:off x="5669280" y="2743200"/>
            <a:ext cx="82296" cy="82296"/>
          </a:xfrm>
          <a:prstGeom prst="ellipse">
            <a:avLst/>
          </a:prstGeom>
          <a:solidFill>
            <a:srgbClr val="507EFF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33872" y="2706624"/>
            <a:ext cx="4407408" cy="42062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F5F8FC"/>
                </a:solidFill>
                <a:latin typeface="Aptos"/>
              </a:rPr>
              <a:t>Terminology / graph relationships support the link.</a:t>
            </a:r>
          </a:p>
        </p:txBody>
      </p:sp>
      <p:sp>
        <p:nvSpPr>
          <p:cNvPr id="18" name="Oval 17"/>
          <p:cNvSpPr/>
          <p:nvPr/>
        </p:nvSpPr>
        <p:spPr>
          <a:xfrm>
            <a:off x="5669280" y="3236976"/>
            <a:ext cx="82296" cy="82296"/>
          </a:xfrm>
          <a:prstGeom prst="ellipse">
            <a:avLst/>
          </a:prstGeom>
          <a:solidFill>
            <a:srgbClr val="507EFF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33872" y="3200400"/>
            <a:ext cx="4407408" cy="42062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F5F8FC"/>
                </a:solidFill>
                <a:latin typeface="Aptos"/>
              </a:rPr>
              <a:t>Context improved candidate ranking.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822191"/>
            <a:ext cx="43891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A064FF"/>
                </a:solidFill>
                <a:latin typeface="Aptos"/>
              </a:rPr>
              <a:t>ALTERNATIVES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206240"/>
            <a:ext cx="4572000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A4B2C5"/>
                </a:solidFill>
                <a:latin typeface="Aptos"/>
              </a:rPr>
              <a:t>Candidate B  •  81%   |   Candidate C  •  73%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343400"/>
            <a:ext cx="43891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31D3DD"/>
                </a:solidFill>
                <a:latin typeface="Aptos"/>
              </a:rPr>
              <a:t>EVIDENCE TRACE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736592"/>
            <a:ext cx="4389120" cy="6858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A4B2C5"/>
                </a:solidFill>
                <a:latin typeface="Aptos"/>
              </a:rPr>
              <a:t>Source → version → retrieval → rule checks → agent trace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" y="6446520"/>
            <a:ext cx="11000232" cy="0"/>
          </a:xfrm>
          <a:prstGeom prst="line">
            <a:avLst/>
          </a:prstGeom>
          <a:ln w="1016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21792" y="6492240"/>
            <a:ext cx="106070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19" b="0" i="0">
                <a:solidFill>
                  <a:srgbClr val="A4B2C5"/>
                </a:solidFill>
                <a:latin typeface="Aptos"/>
              </a:rPr>
              <a:t>Hackathon concept • Proposed architecture • Not a clinical decision system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13816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31D3DD"/>
                </a:solidFill>
                <a:latin typeface="Aptos"/>
              </a:rPr>
              <a:t>13 • END-TO-END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ptos"/>
              </a:rPr>
              <a:t>The complete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6984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A4B2C5"/>
                </a:solidFill>
                <a:latin typeface="Aptos"/>
              </a:rPr>
              <a:t>Designed as a modular microservice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A4B2C5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27632"/>
            <a:ext cx="10698480" cy="603504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141732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31D3DD"/>
                </a:solidFill>
                <a:latin typeface="Aptos"/>
              </a:rPr>
              <a:t>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737360"/>
            <a:ext cx="873252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F5F8FC"/>
                </a:solidFill>
                <a:latin typeface="Aptos"/>
              </a:rPr>
              <a:t>Clinician UI • Search • Mapping workspace • Review console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340864"/>
            <a:ext cx="10698480" cy="603504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50592"/>
            <a:ext cx="141732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507EFF"/>
                </a:solidFill>
                <a:latin typeface="Aptos"/>
              </a:rPr>
              <a:t>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450592"/>
            <a:ext cx="873252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F5F8FC"/>
                </a:solidFill>
                <a:latin typeface="Aptos"/>
              </a:rPr>
              <a:t>REST / JSON • Auth • Rate limits • Versioned endpoints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054096"/>
            <a:ext cx="10698480" cy="603504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A0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163824"/>
            <a:ext cx="141732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A064FF"/>
                </a:solidFill>
                <a:latin typeface="Aptos"/>
              </a:rPr>
              <a:t>Orchestration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163824"/>
            <a:ext cx="873252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F5F8FC"/>
                </a:solidFill>
                <a:latin typeface="Aptos"/>
              </a:rPr>
              <a:t>Mapping agent • workflow state • audit trail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767328"/>
            <a:ext cx="10698480" cy="603504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47D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877056"/>
            <a:ext cx="141732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47D697"/>
                </a:solidFill>
                <a:latin typeface="Aptos"/>
              </a:rPr>
              <a:t>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877056"/>
            <a:ext cx="873252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F5F8FC"/>
                </a:solidFill>
                <a:latin typeface="Aptos"/>
              </a:rPr>
              <a:t>NLP • embeddings • reranker • LLM • confidence engine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480560"/>
            <a:ext cx="10698480" cy="603504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590288"/>
            <a:ext cx="141732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FFB84D"/>
                </a:solidFill>
                <a:latin typeface="Aptos"/>
              </a:rPr>
              <a:t>Knowledge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4590288"/>
            <a:ext cx="873252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F5F8FC"/>
                </a:solidFill>
                <a:latin typeface="Aptos"/>
              </a:rPr>
              <a:t>PostgreSQL • pgvector • knowledge graph • curated terminology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193792"/>
            <a:ext cx="10698480" cy="603504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FF5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303520"/>
            <a:ext cx="141732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FF5F6E"/>
                </a:solidFill>
                <a:latin typeface="Aptos"/>
              </a:rPr>
              <a:t>Interop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5303520"/>
            <a:ext cx="873252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F5F8FC"/>
                </a:solidFill>
                <a:latin typeface="Aptos"/>
              </a:rPr>
              <a:t>WHO ICD-11 API • EMR adapter • FHIR-ready boundary • exports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" y="6446520"/>
            <a:ext cx="11000232" cy="0"/>
          </a:xfrm>
          <a:prstGeom prst="line">
            <a:avLst/>
          </a:prstGeom>
          <a:ln w="1016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21792" y="6492240"/>
            <a:ext cx="106070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19" b="0" i="0">
                <a:solidFill>
                  <a:srgbClr val="A4B2C5"/>
                </a:solidFill>
                <a:latin typeface="Aptos"/>
              </a:rPr>
              <a:t>Hackathon concept • Proposed architecture • Not a clinical decision system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13816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31D3DD"/>
                </a:solidFill>
                <a:latin typeface="Aptos"/>
              </a:rPr>
              <a:t>14 •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ptos"/>
              </a:rPr>
              <a:t>A single canonical concept object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6984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A4B2C5"/>
                </a:solidFill>
                <a:latin typeface="Aptos"/>
              </a:rPr>
              <a:t>The data model is what makes the platform extensible.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A4B2C5"/>
                </a:solidFill>
                <a:latin typeface="Aptos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5074920" cy="425196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48056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31D3DD"/>
                </a:solidFill>
                <a:latin typeface="Aptos"/>
              </a:rPr>
              <a:t>CANONICAL 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286000"/>
            <a:ext cx="45262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A4B2C5"/>
                </a:solidFill>
                <a:latin typeface="Aptos Mono"/>
              </a:rPr>
              <a:t>"concept_id": "uuid"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569464"/>
            <a:ext cx="45262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A4B2C5"/>
                </a:solidFill>
                <a:latin typeface="Aptos Mono"/>
              </a:rPr>
              <a:t>"system": "AYURVEDA | SIDDHA | UNANI"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852928"/>
            <a:ext cx="45262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A4B2C5"/>
                </a:solidFill>
                <a:latin typeface="Aptos Mono"/>
              </a:rPr>
              <a:t>"preferred_term": "...",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136392"/>
            <a:ext cx="45262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A4B2C5"/>
                </a:solidFill>
                <a:latin typeface="Aptos Mono"/>
              </a:rPr>
              <a:t>"synonyms": ["..."],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419856"/>
            <a:ext cx="45262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A4B2C5"/>
                </a:solidFill>
                <a:latin typeface="Aptos Mono"/>
              </a:rPr>
              <a:t>"definitions": ["..."],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703320"/>
            <a:ext cx="45262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A4B2C5"/>
                </a:solidFill>
                <a:latin typeface="Aptos Mono"/>
              </a:rPr>
              <a:t>"namaste": {...},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986783"/>
            <a:ext cx="45262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A4B2C5"/>
                </a:solidFill>
                <a:latin typeface="Aptos Mono"/>
              </a:rPr>
              <a:t>"icd11": {...},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4270247"/>
            <a:ext cx="45262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A4B2C5"/>
                </a:solidFill>
                <a:latin typeface="Aptos Mono"/>
              </a:rPr>
              <a:t>"relations": [...],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4553711"/>
            <a:ext cx="45262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A4B2C5"/>
                </a:solidFill>
                <a:latin typeface="Aptos Mono"/>
              </a:rPr>
              <a:t>"sources": [...],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4837175"/>
            <a:ext cx="45262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A4B2C5"/>
                </a:solidFill>
                <a:latin typeface="Aptos Mono"/>
              </a:rPr>
              <a:t>"version": "...",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5120639"/>
            <a:ext cx="45262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A4B2C5"/>
                </a:solidFill>
                <a:latin typeface="Aptos Mono"/>
              </a:rPr>
              <a:t>"status": "verified | review"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600200"/>
            <a:ext cx="5074920" cy="132588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600200"/>
            <a:ext cx="50292" cy="1325880"/>
          </a:xfrm>
          <a:prstGeom prst="rect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91072" y="1746504"/>
            <a:ext cx="347472" cy="347472"/>
          </a:xfrm>
          <a:prstGeom prst="ellipse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1746504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8272" y="1737360"/>
            <a:ext cx="429768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Why this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2167128"/>
            <a:ext cx="4727448" cy="6400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A4B2C5"/>
                </a:solidFill>
                <a:latin typeface="Aptos"/>
              </a:rPr>
              <a:t>The same concept object can power search, graph queries, mapping, audit and API responses.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127248"/>
            <a:ext cx="5074920" cy="132588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3127248"/>
            <a:ext cx="50292" cy="1325880"/>
          </a:xfrm>
          <a:prstGeom prst="rect">
            <a:avLst/>
          </a:prstGeom>
          <a:solidFill>
            <a:srgbClr val="507EFF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291072" y="3273552"/>
            <a:ext cx="347472" cy="347472"/>
          </a:xfrm>
          <a:prstGeom prst="ellipse">
            <a:avLst/>
          </a:prstGeom>
          <a:solidFill>
            <a:srgbClr val="507EFF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1072" y="3273552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3264408"/>
            <a:ext cx="429768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Version everything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3694176"/>
            <a:ext cx="4727448" cy="6400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A4B2C5"/>
                </a:solidFill>
                <a:latin typeface="Aptos"/>
              </a:rPr>
              <a:t>Terminology, ICD release, model version, prompt/tool version and mapping decision should be traceable.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4654296"/>
            <a:ext cx="5074920" cy="1197864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4654296"/>
            <a:ext cx="50292" cy="1197864"/>
          </a:xfrm>
          <a:prstGeom prst="rect">
            <a:avLst/>
          </a:prstGeom>
          <a:solidFill>
            <a:srgbClr val="A064FF"/>
          </a:solidFill>
          <a:ln>
            <a:solidFill>
              <a:srgbClr val="A0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291072" y="4800600"/>
            <a:ext cx="347472" cy="347472"/>
          </a:xfrm>
          <a:prstGeom prst="ellipse">
            <a:avLst/>
          </a:prstGeom>
          <a:solidFill>
            <a:srgbClr val="A064FF"/>
          </a:solidFill>
          <a:ln>
            <a:solidFill>
              <a:srgbClr val="A0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91072" y="4800600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8272" y="4791456"/>
            <a:ext cx="429768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No silent overwrite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7648" y="5221224"/>
            <a:ext cx="4727448" cy="51206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A4B2C5"/>
                </a:solidFill>
                <a:latin typeface="Aptos"/>
              </a:rPr>
              <a:t>Keep provenance and mapping history so a reviewer can reconstruct why a result was produced.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94360" y="6446520"/>
            <a:ext cx="11000232" cy="0"/>
          </a:xfrm>
          <a:prstGeom prst="line">
            <a:avLst/>
          </a:prstGeom>
          <a:ln w="1016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21792" y="6492240"/>
            <a:ext cx="106070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19" b="0" i="0">
                <a:solidFill>
                  <a:srgbClr val="A4B2C5"/>
                </a:solidFill>
                <a:latin typeface="Aptos"/>
              </a:rPr>
              <a:t>Hackathon concept • Proposed architecture • Not a clinical decision system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13816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31D3DD"/>
                </a:solidFill>
                <a:latin typeface="Aptos"/>
              </a:rPr>
              <a:t>15 •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ptos"/>
              </a:rPr>
              <a:t>Turn the intelligence into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6984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A4B2C5"/>
                </a:solidFill>
                <a:latin typeface="Aptos"/>
              </a:rPr>
              <a:t>The UI is only one client. The API is the product.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A4B2C5"/>
                </a:solidFill>
                <a:latin typeface="Aptos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6583680" cy="434340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594360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31D3DD"/>
                </a:solidFill>
                <a:latin typeface="Aptos Mono"/>
              </a:rPr>
              <a:t>POST /api/v1/map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67712"/>
            <a:ext cx="5989320" cy="1325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A4B2C5"/>
                </a:solidFill>
                <a:latin typeface="Aptos Mono"/>
              </a:rPr>
              <a:t>{
  "text": "clinical description",
  "system": "AYURVEDA",
  "language": "en",
  "mode": "semantic"
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94760"/>
            <a:ext cx="594360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07EFF"/>
                </a:solidFill>
                <a:latin typeface="Aptos"/>
              </a:rPr>
              <a:t>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87952"/>
            <a:ext cx="5989320" cy="1325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A4B2C5"/>
                </a:solidFill>
                <a:latin typeface="Aptos Mono"/>
              </a:rPr>
              <a:t>{
  "candidates": [...],
  "confidence": 0.942,
  "evidence": [...],
  "alternatives": [...],
  "requires_review": true,
  "trace_id": "..."
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600200"/>
            <a:ext cx="3611880" cy="132588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35240" y="1600200"/>
            <a:ext cx="50292" cy="1325880"/>
          </a:xfrm>
          <a:prstGeom prst="rect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99831" y="1746504"/>
            <a:ext cx="347472" cy="347472"/>
          </a:xfrm>
          <a:prstGeom prst="ellipse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9831" y="1746504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1737360"/>
            <a:ext cx="28346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Search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8" y="2167128"/>
            <a:ext cx="3264408" cy="6400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A4B2C5"/>
                </a:solidFill>
                <a:latin typeface="Aptos"/>
              </a:rPr>
              <a:t>Autocomplete, concept lookup, synonyms, code lookup.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3127248"/>
            <a:ext cx="3611880" cy="132588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35240" y="3127248"/>
            <a:ext cx="50292" cy="1325880"/>
          </a:xfrm>
          <a:prstGeom prst="rect">
            <a:avLst/>
          </a:prstGeom>
          <a:solidFill>
            <a:srgbClr val="507EFF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99831" y="3273552"/>
            <a:ext cx="347472" cy="347472"/>
          </a:xfrm>
          <a:prstGeom prst="ellipse">
            <a:avLst/>
          </a:prstGeom>
          <a:solidFill>
            <a:srgbClr val="507EFF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9831" y="3273552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3264408"/>
            <a:ext cx="28346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Mapping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36408" y="3694176"/>
            <a:ext cx="3264408" cy="6400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A4B2C5"/>
                </a:solidFill>
                <a:latin typeface="Aptos"/>
              </a:rPr>
              <a:t>Natural-language → candidate mappings + evidence.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4654296"/>
            <a:ext cx="3611880" cy="1289304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35240" y="4654296"/>
            <a:ext cx="50292" cy="1289304"/>
          </a:xfrm>
          <a:prstGeom prst="rect">
            <a:avLst/>
          </a:prstGeom>
          <a:solidFill>
            <a:srgbClr val="A064FF"/>
          </a:solidFill>
          <a:ln>
            <a:solidFill>
              <a:srgbClr val="A0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99831" y="4800600"/>
            <a:ext cx="347472" cy="347472"/>
          </a:xfrm>
          <a:prstGeom prst="ellipse">
            <a:avLst/>
          </a:prstGeom>
          <a:solidFill>
            <a:srgbClr val="A064FF"/>
          </a:solidFill>
          <a:ln>
            <a:solidFill>
              <a:srgbClr val="A0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99831" y="4800600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1" y="4791456"/>
            <a:ext cx="28346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Audit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36408" y="5221224"/>
            <a:ext cx="3264408" cy="603503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A4B2C5"/>
                </a:solidFill>
                <a:latin typeface="Aptos"/>
              </a:rPr>
              <a:t>Trace ID, model/version, reviewer decision.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4360" y="6446520"/>
            <a:ext cx="11000232" cy="0"/>
          </a:xfrm>
          <a:prstGeom prst="line">
            <a:avLst/>
          </a:prstGeom>
          <a:ln w="1016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1792" y="6492240"/>
            <a:ext cx="106070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19" b="0" i="0">
                <a:solidFill>
                  <a:srgbClr val="A4B2C5"/>
                </a:solidFill>
                <a:latin typeface="Aptos"/>
              </a:rPr>
              <a:t>Hackathon concept • Proposed architecture • Not a clinical decision system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13816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31D3DD"/>
                </a:solidFill>
                <a:latin typeface="Aptos"/>
              </a:rPr>
              <a:t>16 • EMR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ptos"/>
              </a:rPr>
              <a:t>From hackathon demo to hospital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6984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A4B2C5"/>
                </a:solidFill>
                <a:latin typeface="Aptos"/>
              </a:rPr>
              <a:t>Keep the mapping engine behind a clean interoperability boundary.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A4B2C5"/>
                </a:solidFill>
                <a:latin typeface="Aptos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1828800" cy="777240"/>
          </a:xfrm>
          <a:prstGeom prst="roundRect">
            <a:avLst>
              <a:gd name="adj" fmla="val 12000"/>
            </a:avLst>
          </a:prstGeom>
          <a:solidFill>
            <a:srgbClr val="142237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020824"/>
            <a:ext cx="1682496" cy="6675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Aptos"/>
              </a:rPr>
              <a:t>AYUSH / EMR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06040" y="2359152"/>
            <a:ext cx="411480" cy="0"/>
          </a:xfrm>
          <a:prstGeom prst="line">
            <a:avLst/>
          </a:prstGeom>
          <a:ln w="2540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2921224" y="2359152"/>
            <a:ext cx="96296" cy="52606"/>
          </a:xfrm>
          <a:prstGeom prst="line">
            <a:avLst/>
          </a:prstGeom>
          <a:ln w="2286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2921224" y="2306545"/>
            <a:ext cx="96296" cy="52607"/>
          </a:xfrm>
          <a:prstGeom prst="line">
            <a:avLst/>
          </a:prstGeom>
          <a:ln w="2286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063240" y="1965960"/>
            <a:ext cx="2011680" cy="777240"/>
          </a:xfrm>
          <a:prstGeom prst="roundRect">
            <a:avLst>
              <a:gd name="adj" fmla="val 12000"/>
            </a:avLst>
          </a:prstGeom>
          <a:solidFill>
            <a:srgbClr val="142237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36392" y="2020824"/>
            <a:ext cx="1865376" cy="6675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Aptos"/>
              </a:rPr>
              <a:t>Interop Adapter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166360" y="2359152"/>
            <a:ext cx="411480" cy="0"/>
          </a:xfrm>
          <a:prstGeom prst="line">
            <a:avLst/>
          </a:prstGeom>
          <a:ln w="2540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481544" y="2359152"/>
            <a:ext cx="96296" cy="52606"/>
          </a:xfrm>
          <a:prstGeom prst="line">
            <a:avLst/>
          </a:prstGeom>
          <a:ln w="2286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5481544" y="2306545"/>
            <a:ext cx="96296" cy="52607"/>
          </a:xfrm>
          <a:prstGeom prst="line">
            <a:avLst/>
          </a:prstGeom>
          <a:ln w="2286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623560" y="1965960"/>
            <a:ext cx="2057400" cy="777240"/>
          </a:xfrm>
          <a:prstGeom prst="roundRect">
            <a:avLst>
              <a:gd name="adj" fmla="val 12000"/>
            </a:avLst>
          </a:prstGeom>
          <a:solidFill>
            <a:srgbClr val="142237"/>
          </a:solidFill>
          <a:ln>
            <a:solidFill>
              <a:srgbClr val="A0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2020824"/>
            <a:ext cx="1911095" cy="6675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Aptos"/>
              </a:rPr>
              <a:t>Semantic Engine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0" y="2359152"/>
            <a:ext cx="411479" cy="0"/>
          </a:xfrm>
          <a:prstGeom prst="line">
            <a:avLst/>
          </a:prstGeom>
          <a:ln w="2540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8087584" y="2359152"/>
            <a:ext cx="96295" cy="52606"/>
          </a:xfrm>
          <a:prstGeom prst="line">
            <a:avLst/>
          </a:prstGeom>
          <a:ln w="2286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8087584" y="2306545"/>
            <a:ext cx="96295" cy="52607"/>
          </a:xfrm>
          <a:prstGeom prst="line">
            <a:avLst/>
          </a:prstGeom>
          <a:ln w="22860">
            <a:solidFill>
              <a:srgbClr val="31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229600" y="196596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142237"/>
          </a:solidFill>
          <a:ln>
            <a:solidFill>
              <a:srgbClr val="47D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2020824"/>
            <a:ext cx="1956815" cy="6675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Aptos"/>
              </a:rPr>
              <a:t>ICD-11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429000"/>
            <a:ext cx="1051560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31D3DD"/>
                </a:solidFill>
                <a:latin typeface="Aptos"/>
              </a:rPr>
              <a:t>PROPOSED INTEGRATION PATTERN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3831336"/>
            <a:ext cx="82296" cy="82296"/>
          </a:xfrm>
          <a:prstGeom prst="ellipse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3794760"/>
            <a:ext cx="10168128" cy="42062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F5F8FC"/>
                </a:solidFill>
                <a:latin typeface="Aptos"/>
              </a:rPr>
              <a:t>Receive clinician-entered terminology from an EMR workflow.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" y="4361688"/>
            <a:ext cx="82296" cy="82296"/>
          </a:xfrm>
          <a:prstGeom prst="ellipse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4325112"/>
            <a:ext cx="10168128" cy="42062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F5F8FC"/>
                </a:solidFill>
                <a:latin typeface="Aptos"/>
              </a:rPr>
              <a:t>Return standardized candidate concepts without changing the source clinical note.</a:t>
            </a:r>
          </a:p>
        </p:txBody>
      </p:sp>
      <p:sp>
        <p:nvSpPr>
          <p:cNvPr id="28" name="Oval 27"/>
          <p:cNvSpPr/>
          <p:nvPr/>
        </p:nvSpPr>
        <p:spPr>
          <a:xfrm>
            <a:off x="822960" y="4892040"/>
            <a:ext cx="82296" cy="82296"/>
          </a:xfrm>
          <a:prstGeom prst="ellipse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" y="4855464"/>
            <a:ext cx="10168128" cy="42062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F5F8FC"/>
                </a:solidFill>
                <a:latin typeface="Aptos"/>
              </a:rPr>
              <a:t>Persist dual-coded / mapped representation only after appropriate review policy.</a:t>
            </a:r>
          </a:p>
        </p:txBody>
      </p:sp>
      <p:sp>
        <p:nvSpPr>
          <p:cNvPr id="30" name="Oval 29"/>
          <p:cNvSpPr/>
          <p:nvPr/>
        </p:nvSpPr>
        <p:spPr>
          <a:xfrm>
            <a:off x="822960" y="5422392"/>
            <a:ext cx="82296" cy="82296"/>
          </a:xfrm>
          <a:prstGeom prst="ellipse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" y="5385816"/>
            <a:ext cx="10168128" cy="42062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F5F8FC"/>
                </a:solidFill>
                <a:latin typeface="Aptos"/>
              </a:rPr>
              <a:t>Expose auditability and version metadata for downstream reporting.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199632"/>
            <a:ext cx="1078992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750" b="0" i="1">
                <a:solidFill>
                  <a:srgbClr val="A4B2C5"/>
                </a:solidFill>
                <a:latin typeface="Aptos"/>
              </a:rPr>
              <a:t>WHO provides a programmatic ICD-11 API and embedded classification tooling; EMR/FHIR adapter is a proposed hackathon architecture.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4360" y="6446520"/>
            <a:ext cx="11000232" cy="0"/>
          </a:xfrm>
          <a:prstGeom prst="line">
            <a:avLst/>
          </a:prstGeom>
          <a:ln w="1016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21792" y="6492240"/>
            <a:ext cx="106070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19" b="0" i="0">
                <a:solidFill>
                  <a:srgbClr val="A4B2C5"/>
                </a:solidFill>
                <a:latin typeface="Aptos"/>
              </a:rPr>
              <a:t>Hackathon concept • Proposed architecture • Not a clinical decision system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13816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31D3DD"/>
                </a:solidFill>
                <a:latin typeface="Aptos"/>
              </a:rPr>
              <a:t>17 • SECURITY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ptos"/>
              </a:rPr>
              <a:t>Healthcare-grade thinking without pretending this is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6984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A4B2C5"/>
                </a:solidFill>
                <a:latin typeface="Aptos"/>
              </a:rPr>
              <a:t>Show judges that you understand the risk surface.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A4B2C5"/>
                </a:solidFill>
                <a:latin typeface="Aptos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383280" cy="141732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50292" cy="1417320"/>
          </a:xfrm>
          <a:prstGeom prst="rect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" y="1792224"/>
            <a:ext cx="347472" cy="347472"/>
          </a:xfrm>
          <a:prstGeom prst="ellipse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792224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1783080"/>
            <a:ext cx="26060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Data minimization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212848"/>
            <a:ext cx="3035808" cy="7315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A4B2C5"/>
                </a:solidFill>
                <a:latin typeface="Aptos"/>
              </a:rPr>
              <a:t>Use only fields needed for terminology mapping; avoid unnecessary patient identifiers.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645920"/>
            <a:ext cx="3383280" cy="141732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645920"/>
            <a:ext cx="50292" cy="1417320"/>
          </a:xfrm>
          <a:prstGeom prst="rect">
            <a:avLst/>
          </a:prstGeom>
          <a:solidFill>
            <a:srgbClr val="507EFF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2000" y="1792224"/>
            <a:ext cx="347472" cy="347472"/>
          </a:xfrm>
          <a:prstGeom prst="ellipse">
            <a:avLst/>
          </a:prstGeom>
          <a:solidFill>
            <a:srgbClr val="507EFF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792224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783080"/>
            <a:ext cx="26060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Access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212848"/>
            <a:ext cx="3035808" cy="7315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A4B2C5"/>
                </a:solidFill>
                <a:latin typeface="Aptos"/>
              </a:rPr>
              <a:t>Role-based access for practitioner, reviewer, admin and service clients.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9016" y="1645920"/>
            <a:ext cx="3383280" cy="141732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29016" y="1645920"/>
            <a:ext cx="50292" cy="1417320"/>
          </a:xfrm>
          <a:prstGeom prst="rect">
            <a:avLst/>
          </a:prstGeom>
          <a:solidFill>
            <a:srgbClr val="A064FF"/>
          </a:solidFill>
          <a:ln>
            <a:solidFill>
              <a:srgbClr val="A0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93608" y="1792224"/>
            <a:ext cx="347472" cy="347472"/>
          </a:xfrm>
          <a:prstGeom prst="ellipse">
            <a:avLst/>
          </a:prstGeom>
          <a:solidFill>
            <a:srgbClr val="A064FF"/>
          </a:solidFill>
          <a:ln>
            <a:solidFill>
              <a:srgbClr val="A0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1792224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0808" y="1783080"/>
            <a:ext cx="26060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Auditability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4" y="2212848"/>
            <a:ext cx="3035808" cy="7315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A4B2C5"/>
                </a:solidFill>
                <a:latin typeface="Aptos"/>
              </a:rPr>
              <a:t>Trace every mapping: input hash, model, evidence, decision and reviewer.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337560"/>
            <a:ext cx="3383280" cy="141732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3337560"/>
            <a:ext cx="50292" cy="1417320"/>
          </a:xfrm>
          <a:prstGeom prst="rect">
            <a:avLst/>
          </a:prstGeom>
          <a:solidFill>
            <a:srgbClr val="47D697"/>
          </a:solidFill>
          <a:ln>
            <a:solidFill>
              <a:srgbClr val="47D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0392" y="3483864"/>
            <a:ext cx="347472" cy="347472"/>
          </a:xfrm>
          <a:prstGeom prst="ellipse">
            <a:avLst/>
          </a:prstGeom>
          <a:solidFill>
            <a:srgbClr val="47D697"/>
          </a:solidFill>
          <a:ln>
            <a:solidFill>
              <a:srgbClr val="47D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3483864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07592" y="3474720"/>
            <a:ext cx="26060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Encryption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" y="3904487"/>
            <a:ext cx="3035808" cy="7315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A4B2C5"/>
                </a:solidFill>
                <a:latin typeface="Aptos"/>
              </a:rPr>
              <a:t>TLS in transit; encrypted storage for any sensitive data used in a real deployment.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07408" y="3337560"/>
            <a:ext cx="3383280" cy="141732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07408" y="3337560"/>
            <a:ext cx="50292" cy="1417320"/>
          </a:xfrm>
          <a:prstGeom prst="rect">
            <a:avLst/>
          </a:prstGeom>
          <a:solidFill>
            <a:srgbClr val="FFB84D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72000" y="3483864"/>
            <a:ext cx="347472" cy="347472"/>
          </a:xfrm>
          <a:prstGeom prst="ellipse">
            <a:avLst/>
          </a:prstGeom>
          <a:solidFill>
            <a:srgbClr val="FFB84D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3483864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3474720"/>
            <a:ext cx="26060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Human-in-loop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08576" y="3904487"/>
            <a:ext cx="3035808" cy="7315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A4B2C5"/>
                </a:solidFill>
                <a:latin typeface="Aptos"/>
              </a:rPr>
              <a:t>Low-confidence or conflicting mappings go to review.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29016" y="3337560"/>
            <a:ext cx="3383280" cy="141732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29016" y="3337560"/>
            <a:ext cx="50292" cy="1417320"/>
          </a:xfrm>
          <a:prstGeom prst="rect">
            <a:avLst/>
          </a:prstGeom>
          <a:solidFill>
            <a:srgbClr val="FF5F6E"/>
          </a:solidFill>
          <a:ln>
            <a:solidFill>
              <a:srgbClr val="FF5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93608" y="3483864"/>
            <a:ext cx="347472" cy="347472"/>
          </a:xfrm>
          <a:prstGeom prst="ellipse">
            <a:avLst/>
          </a:prstGeom>
          <a:solidFill>
            <a:srgbClr val="FF5F6E"/>
          </a:solidFill>
          <a:ln>
            <a:solidFill>
              <a:srgbClr val="FF5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93608" y="3483864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50808" y="3474720"/>
            <a:ext cx="26060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Safety boundary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0184" y="3904487"/>
            <a:ext cx="3035808" cy="7315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A4B2C5"/>
                </a:solidFill>
                <a:latin typeface="Aptos"/>
              </a:rPr>
              <a:t>Terminology mapping ≠ diagnosis or treatment recommendation.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230368"/>
            <a:ext cx="1033272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400" b="1" i="0">
                <a:solidFill>
                  <a:srgbClr val="F5F8FC"/>
                </a:solidFill>
                <a:latin typeface="Aptos"/>
              </a:rPr>
              <a:t>Pitch line: “We are building an interoperability and coding-assistance layer, not an autonomous diagnostic system.”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94360" y="6446520"/>
            <a:ext cx="11000232" cy="0"/>
          </a:xfrm>
          <a:prstGeom prst="line">
            <a:avLst/>
          </a:prstGeom>
          <a:ln w="1016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21792" y="6492240"/>
            <a:ext cx="106070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19" b="0" i="0">
                <a:solidFill>
                  <a:srgbClr val="A4B2C5"/>
                </a:solidFill>
                <a:latin typeface="Aptos"/>
              </a:rPr>
              <a:t>Hackathon concept • Proposed architecture • Not a clinical decision system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13816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31D3DD"/>
                </a:solidFill>
                <a:latin typeface="Aptos"/>
              </a:rPr>
              <a:t>18 • FEATURE LADDER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ptos"/>
              </a:rPr>
              <a:t>The feature set that makes it final-year-project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6984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A4B2C5"/>
                </a:solidFill>
                <a:latin typeface="Aptos"/>
              </a:rPr>
              <a:t>Prioritize the features that increase defensibility—not just feature count.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A4B2C5"/>
                </a:solidFill>
                <a:latin typeface="Aptos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2468880" cy="150876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50292" cy="1508760"/>
          </a:xfrm>
          <a:prstGeom prst="rect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1" y="1792224"/>
            <a:ext cx="347472" cy="347472"/>
          </a:xfrm>
          <a:prstGeom prst="ellipse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792224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783080"/>
            <a:ext cx="16916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50" b="1" i="0">
                <a:solidFill>
                  <a:srgbClr val="F5F8FC"/>
                </a:solidFill>
                <a:latin typeface="Aptos"/>
              </a:rPr>
              <a:t>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212848"/>
            <a:ext cx="2121408" cy="822959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A4B2C5"/>
                </a:solidFill>
                <a:latin typeface="Aptos"/>
              </a:rPr>
              <a:t>Bidirectional NAMASTE ↔ ICD-11 mapping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1645920"/>
            <a:ext cx="2468880" cy="150876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40" y="1645920"/>
            <a:ext cx="50292" cy="1508760"/>
          </a:xfrm>
          <a:prstGeom prst="rect">
            <a:avLst/>
          </a:prstGeom>
          <a:solidFill>
            <a:srgbClr val="507EFF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85032" y="1792224"/>
            <a:ext cx="347472" cy="347472"/>
          </a:xfrm>
          <a:prstGeom prst="ellipse">
            <a:avLst/>
          </a:prstGeom>
          <a:solidFill>
            <a:srgbClr val="507EFF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85032" y="1792224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2232" y="1783080"/>
            <a:ext cx="16916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50" b="1" i="0">
                <a:solidFill>
                  <a:srgbClr val="F5F8FC"/>
                </a:solidFill>
                <a:latin typeface="Aptos"/>
              </a:rPr>
              <a:t>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1608" y="2212848"/>
            <a:ext cx="2121408" cy="822959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A4B2C5"/>
                </a:solidFill>
                <a:latin typeface="Aptos"/>
              </a:rPr>
              <a:t>Semantic retrieval + reranking + contextual NLP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645920"/>
            <a:ext cx="2468880" cy="150876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645920"/>
            <a:ext cx="50292" cy="1508760"/>
          </a:xfrm>
          <a:prstGeom prst="rect">
            <a:avLst/>
          </a:prstGeom>
          <a:solidFill>
            <a:srgbClr val="A064FF"/>
          </a:solidFill>
          <a:ln>
            <a:solidFill>
              <a:srgbClr val="A0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1792224"/>
            <a:ext cx="347472" cy="347472"/>
          </a:xfrm>
          <a:prstGeom prst="ellipse">
            <a:avLst/>
          </a:prstGeom>
          <a:solidFill>
            <a:srgbClr val="A064FF"/>
          </a:solidFill>
          <a:ln>
            <a:solidFill>
              <a:srgbClr val="A0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1792224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1783080"/>
            <a:ext cx="16916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50" b="1" i="0">
                <a:solidFill>
                  <a:srgbClr val="F5F8FC"/>
                </a:solidFill>
                <a:latin typeface="Aptos"/>
              </a:rPr>
              <a:t>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2212848"/>
            <a:ext cx="2121408" cy="822959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A4B2C5"/>
                </a:solidFill>
                <a:latin typeface="Aptos"/>
              </a:rPr>
              <a:t>Terminology knowledge graph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81160" y="1645920"/>
            <a:ext cx="2468880" cy="150876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81160" y="1645920"/>
            <a:ext cx="50292" cy="1508760"/>
          </a:xfrm>
          <a:prstGeom prst="rect">
            <a:avLst/>
          </a:prstGeom>
          <a:solidFill>
            <a:srgbClr val="47D697"/>
          </a:solidFill>
          <a:ln>
            <a:solidFill>
              <a:srgbClr val="47D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45752" y="1792224"/>
            <a:ext cx="347472" cy="347472"/>
          </a:xfrm>
          <a:prstGeom prst="ellipse">
            <a:avLst/>
          </a:prstGeom>
          <a:solidFill>
            <a:srgbClr val="47D697"/>
          </a:solidFill>
          <a:ln>
            <a:solidFill>
              <a:srgbClr val="47D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45752" y="1792224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2952" y="1783080"/>
            <a:ext cx="16916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50" b="1" i="0">
                <a:solidFill>
                  <a:srgbClr val="F5F8FC"/>
                </a:solidFill>
                <a:latin typeface="Aptos"/>
              </a:rPr>
              <a:t>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82328" y="2212848"/>
            <a:ext cx="2121408" cy="822959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A4B2C5"/>
                </a:solidFill>
                <a:latin typeface="Aptos"/>
              </a:rPr>
              <a:t>Tool-using mapping investigator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657600"/>
            <a:ext cx="2468880" cy="150876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3657600"/>
            <a:ext cx="50292" cy="1508760"/>
          </a:xfrm>
          <a:prstGeom prst="rect">
            <a:avLst/>
          </a:prstGeom>
          <a:solidFill>
            <a:srgbClr val="FFB84D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4671" y="3803904"/>
            <a:ext cx="347472" cy="347472"/>
          </a:xfrm>
          <a:prstGeom prst="ellipse">
            <a:avLst/>
          </a:prstGeom>
          <a:solidFill>
            <a:srgbClr val="FFB84D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" y="3803904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1872" y="3794760"/>
            <a:ext cx="16916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50" b="1" i="0">
                <a:solidFill>
                  <a:srgbClr val="F5F8FC"/>
                </a:solidFill>
                <a:latin typeface="Aptos"/>
              </a:rPr>
              <a:t>Explain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7" y="4224528"/>
            <a:ext cx="2121408" cy="822959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A4B2C5"/>
                </a:solidFill>
                <a:latin typeface="Aptos"/>
              </a:rPr>
              <a:t>Evidence packet + alternatives + trace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20440" y="3657600"/>
            <a:ext cx="2468880" cy="150876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520440" y="3657600"/>
            <a:ext cx="50292" cy="1508760"/>
          </a:xfrm>
          <a:prstGeom prst="rect">
            <a:avLst/>
          </a:prstGeom>
          <a:solidFill>
            <a:srgbClr val="FF5F6E"/>
          </a:solidFill>
          <a:ln>
            <a:solidFill>
              <a:srgbClr val="FF5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85032" y="3803904"/>
            <a:ext cx="347472" cy="347472"/>
          </a:xfrm>
          <a:prstGeom prst="ellipse">
            <a:avLst/>
          </a:prstGeom>
          <a:solidFill>
            <a:srgbClr val="FF5F6E"/>
          </a:solidFill>
          <a:ln>
            <a:solidFill>
              <a:srgbClr val="FF5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85032" y="3803904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42232" y="3794760"/>
            <a:ext cx="16916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50" b="1" i="0">
                <a:solidFill>
                  <a:srgbClr val="F5F8FC"/>
                </a:solidFill>
                <a:latin typeface="Aptos"/>
              </a:rPr>
              <a:t>Interop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21608" y="4224528"/>
            <a:ext cx="2121408" cy="822959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A4B2C5"/>
                </a:solidFill>
                <a:latin typeface="Aptos"/>
              </a:rPr>
              <a:t>Versioned REST API + EMR adapter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3657600"/>
            <a:ext cx="2468880" cy="150876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0" y="3657600"/>
            <a:ext cx="50292" cy="1508760"/>
          </a:xfrm>
          <a:prstGeom prst="rect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565392" y="3803904"/>
            <a:ext cx="347472" cy="347472"/>
          </a:xfrm>
          <a:prstGeom prst="ellipse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65392" y="3803904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22592" y="3794760"/>
            <a:ext cx="16916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50" b="1" i="0">
                <a:solidFill>
                  <a:srgbClr val="F5F8FC"/>
                </a:solidFill>
                <a:latin typeface="Aptos"/>
              </a:rPr>
              <a:t>Safety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01968" y="4224528"/>
            <a:ext cx="2121408" cy="822959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A4B2C5"/>
                </a:solidFill>
                <a:latin typeface="Aptos"/>
              </a:rPr>
              <a:t>Review thresholds + audit trail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81160" y="3657600"/>
            <a:ext cx="2468880" cy="150876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281160" y="3657600"/>
            <a:ext cx="50292" cy="1508760"/>
          </a:xfrm>
          <a:prstGeom prst="rect">
            <a:avLst/>
          </a:prstGeom>
          <a:solidFill>
            <a:srgbClr val="507EFF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445752" y="3803904"/>
            <a:ext cx="347472" cy="347472"/>
          </a:xfrm>
          <a:prstGeom prst="ellipse">
            <a:avLst/>
          </a:prstGeom>
          <a:solidFill>
            <a:srgbClr val="507EFF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45752" y="3803904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02952" y="3794760"/>
            <a:ext cx="16916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50" b="1" i="0">
                <a:solidFill>
                  <a:srgbClr val="F5F8FC"/>
                </a:solidFill>
                <a:latin typeface="Aptos"/>
              </a:rPr>
              <a:t>Scale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82328" y="4224528"/>
            <a:ext cx="2121408" cy="822959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A4B2C5"/>
                </a:solidFill>
                <a:latin typeface="Aptos"/>
              </a:rPr>
              <a:t>Multilingual / transliteration-ready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94360" y="6446520"/>
            <a:ext cx="11000232" cy="0"/>
          </a:xfrm>
          <a:prstGeom prst="line">
            <a:avLst/>
          </a:prstGeom>
          <a:ln w="1016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21792" y="6492240"/>
            <a:ext cx="106070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19" b="0" i="0">
                <a:solidFill>
                  <a:srgbClr val="A4B2C5"/>
                </a:solidFill>
                <a:latin typeface="Aptos"/>
              </a:rPr>
              <a:t>Hackathon concept • Proposed architecture • Not a clinical decision system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13816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31D3DD"/>
                </a:solidFill>
                <a:latin typeface="Aptos"/>
              </a:rPr>
              <a:t>19 • DEMO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ptos"/>
              </a:rPr>
              <a:t>The “wow” moment: challenge the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6984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A4B2C5"/>
                </a:solidFill>
                <a:latin typeface="Aptos"/>
              </a:rPr>
              <a:t>Don't demo a happy path only. Demonstrate ambiguity and recovery.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A4B2C5"/>
                </a:solidFill>
                <a:latin typeface="Aptos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166360" cy="425196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5720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31D3DD"/>
                </a:solidFill>
                <a:latin typeface="Aptos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526280" cy="10058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F5F8FC"/>
                </a:solidFill>
                <a:latin typeface="Aptos"/>
              </a:rPr>
              <a:t>"Traditional term +
contextual description..."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01568"/>
            <a:ext cx="45720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507EFF"/>
                </a:solidFill>
                <a:latin typeface="Aptos"/>
              </a:rPr>
              <a:t>SYSTEM BEHAVIOR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767328"/>
            <a:ext cx="82296" cy="82296"/>
          </a:xfrm>
          <a:prstGeom prst="ellipse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730752"/>
            <a:ext cx="4407408" cy="42062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F5F8FC"/>
                </a:solidFill>
                <a:latin typeface="Aptos"/>
              </a:rPr>
              <a:t>Retrieve top 10 semantic candidates.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297680"/>
            <a:ext cx="82296" cy="82296"/>
          </a:xfrm>
          <a:prstGeom prst="ellipse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261104"/>
            <a:ext cx="4407408" cy="42062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F5F8FC"/>
                </a:solidFill>
                <a:latin typeface="Aptos"/>
              </a:rPr>
              <a:t>Graph validates relationships.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828032"/>
            <a:ext cx="82296" cy="82296"/>
          </a:xfrm>
          <a:prstGeom prst="ellipse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791456"/>
            <a:ext cx="4407408" cy="42062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F5F8FC"/>
                </a:solidFill>
                <a:latin typeface="Aptos"/>
              </a:rPr>
              <a:t>Agent compares evidence.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358384"/>
            <a:ext cx="82296" cy="82296"/>
          </a:xfrm>
          <a:prstGeom prst="ellipse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5321808"/>
            <a:ext cx="4407408" cy="42062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F5F8FC"/>
                </a:solidFill>
                <a:latin typeface="Aptos"/>
              </a:rPr>
              <a:t>One candidate wins; two remain alternatives.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074920" cy="425196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828800"/>
            <a:ext cx="43891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47D697"/>
                </a:solidFill>
                <a:latin typeface="Aptos"/>
              </a:rPr>
              <a:t>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267712"/>
            <a:ext cx="1920240" cy="114300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404872"/>
            <a:ext cx="1591056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300" b="1" i="0">
                <a:solidFill>
                  <a:srgbClr val="47D697"/>
                </a:solidFill>
                <a:latin typeface="Aptos"/>
              </a:rPr>
              <a:t>94.2%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2862072"/>
            <a:ext cx="1591056" cy="4572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80" b="0" i="0">
                <a:solidFill>
                  <a:srgbClr val="A4B2C5"/>
                </a:solidFill>
                <a:latin typeface="Aptos"/>
              </a:rPr>
              <a:t>system confidence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49640" y="2267712"/>
            <a:ext cx="1920240" cy="114300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14232" y="2404872"/>
            <a:ext cx="1591056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300" b="1" i="0">
                <a:solidFill>
                  <a:srgbClr val="FFB84D"/>
                </a:solidFill>
                <a:latin typeface="Aptos"/>
              </a:rP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4232" y="2862072"/>
            <a:ext cx="1591056" cy="4572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80" b="0" i="0">
                <a:solidFill>
                  <a:srgbClr val="A4B2C5"/>
                </a:solidFill>
                <a:latin typeface="Aptos"/>
              </a:rPr>
              <a:t>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703320"/>
            <a:ext cx="43891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A064FF"/>
                </a:solidFill>
                <a:latin typeface="Aptos"/>
              </a:rPr>
              <a:t>WHY?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041648"/>
            <a:ext cx="4343400" cy="8686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1" i="0">
                <a:solidFill>
                  <a:srgbClr val="F5F8FC"/>
                </a:solidFill>
                <a:latin typeface="Aptos"/>
              </a:rPr>
              <a:t>Semantic + lexical + graph + context evidence aligned.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074920"/>
            <a:ext cx="434340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A4B2C5"/>
                </a:solidFill>
                <a:latin typeface="Aptos"/>
              </a:rPr>
              <a:t>Then show the trace.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4360" y="6446520"/>
            <a:ext cx="11000232" cy="0"/>
          </a:xfrm>
          <a:prstGeom prst="line">
            <a:avLst/>
          </a:prstGeom>
          <a:ln w="1016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1792" y="6492240"/>
            <a:ext cx="106070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19" b="0" i="0">
                <a:solidFill>
                  <a:srgbClr val="A4B2C5"/>
                </a:solidFill>
                <a:latin typeface="Aptos"/>
              </a:rPr>
              <a:t>Hackathon concept • Proposed architecture • Not a clinical decision system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13816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31D3DD"/>
                </a:solidFill>
                <a:latin typeface="Aptos"/>
              </a:rPr>
              <a:t>20 •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ptos"/>
              </a:rPr>
              <a:t>Prove the system, don't just present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6984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A4B2C5"/>
                </a:solidFill>
                <a:latin typeface="Aptos"/>
              </a:rPr>
              <a:t>A strong hackathon team measures retrieval, ranking and safety.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A4B2C5"/>
                </a:solidFill>
                <a:latin typeface="Aptos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337560" cy="150876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50292" cy="1508760"/>
          </a:xfrm>
          <a:prstGeom prst="rect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" y="1792224"/>
            <a:ext cx="347472" cy="347472"/>
          </a:xfrm>
          <a:prstGeom prst="ellipse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792224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1783080"/>
            <a:ext cx="25603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1" i="0">
                <a:solidFill>
                  <a:srgbClr val="F5F8FC"/>
                </a:solidFill>
                <a:latin typeface="Aptos"/>
              </a:rPr>
              <a:t>Recall@K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212848"/>
            <a:ext cx="2990088" cy="822959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A4B2C5"/>
                </a:solidFill>
                <a:latin typeface="Aptos"/>
              </a:rPr>
              <a:t>Did the correct concept enter the candidate set?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45920"/>
            <a:ext cx="3337560" cy="150876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645920"/>
            <a:ext cx="50292" cy="1508760"/>
          </a:xfrm>
          <a:prstGeom prst="rect">
            <a:avLst/>
          </a:prstGeom>
          <a:solidFill>
            <a:srgbClr val="507EFF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53712" y="1792224"/>
            <a:ext cx="347472" cy="347472"/>
          </a:xfrm>
          <a:prstGeom prst="ellipse">
            <a:avLst/>
          </a:prstGeom>
          <a:solidFill>
            <a:srgbClr val="507EFF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792224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0912" y="1783080"/>
            <a:ext cx="25603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1" i="0">
                <a:solidFill>
                  <a:srgbClr val="F5F8FC"/>
                </a:solidFill>
                <a:latin typeface="Aptos"/>
              </a:rPr>
              <a:t>MRR / nDCG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212848"/>
            <a:ext cx="2990088" cy="822959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A4B2C5"/>
                </a:solidFill>
                <a:latin typeface="Aptos"/>
              </a:rPr>
              <a:t>Did the correct concept rank near the top?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645920"/>
            <a:ext cx="3337560" cy="150876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645920"/>
            <a:ext cx="50292" cy="1508760"/>
          </a:xfrm>
          <a:prstGeom prst="rect">
            <a:avLst/>
          </a:prstGeom>
          <a:solidFill>
            <a:srgbClr val="A064FF"/>
          </a:solidFill>
          <a:ln>
            <a:solidFill>
              <a:srgbClr val="A0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57031" y="1792224"/>
            <a:ext cx="347472" cy="347472"/>
          </a:xfrm>
          <a:prstGeom prst="ellipse">
            <a:avLst/>
          </a:prstGeom>
          <a:solidFill>
            <a:srgbClr val="A064FF"/>
          </a:solidFill>
          <a:ln>
            <a:solidFill>
              <a:srgbClr val="A0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1" y="1792224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4232" y="1783080"/>
            <a:ext cx="25603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1" i="0">
                <a:solidFill>
                  <a:srgbClr val="F5F8FC"/>
                </a:solidFill>
                <a:latin typeface="Aptos"/>
              </a:rPr>
              <a:t>Calibration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2212848"/>
            <a:ext cx="2990088" cy="822959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A4B2C5"/>
                </a:solidFill>
                <a:latin typeface="Aptos"/>
              </a:rPr>
              <a:t>Does confidence track correctness?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611880"/>
            <a:ext cx="3337560" cy="150876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3611880"/>
            <a:ext cx="50292" cy="1508760"/>
          </a:xfrm>
          <a:prstGeom prst="rect">
            <a:avLst/>
          </a:prstGeom>
          <a:solidFill>
            <a:srgbClr val="FF5F6E"/>
          </a:solidFill>
          <a:ln>
            <a:solidFill>
              <a:srgbClr val="FF5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0392" y="3758184"/>
            <a:ext cx="347472" cy="347472"/>
          </a:xfrm>
          <a:prstGeom prst="ellipse">
            <a:avLst/>
          </a:prstGeom>
          <a:solidFill>
            <a:srgbClr val="FF5F6E"/>
          </a:solidFill>
          <a:ln>
            <a:solidFill>
              <a:srgbClr val="FF5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3758184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07592" y="3749040"/>
            <a:ext cx="25603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1" i="0">
                <a:solidFill>
                  <a:srgbClr val="F5F8FC"/>
                </a:solidFill>
                <a:latin typeface="Aptos"/>
              </a:rPr>
              <a:t>Abstention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" y="4178808"/>
            <a:ext cx="2990088" cy="822959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A4B2C5"/>
                </a:solidFill>
                <a:latin typeface="Aptos"/>
              </a:rPr>
              <a:t>Does the system refuse when evidence conflicts?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611880"/>
            <a:ext cx="3337560" cy="150876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3611880"/>
            <a:ext cx="50292" cy="1508760"/>
          </a:xfrm>
          <a:prstGeom prst="rect">
            <a:avLst/>
          </a:prstGeom>
          <a:solidFill>
            <a:srgbClr val="47D697"/>
          </a:solidFill>
          <a:ln>
            <a:solidFill>
              <a:srgbClr val="47D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53712" y="3758184"/>
            <a:ext cx="347472" cy="347472"/>
          </a:xfrm>
          <a:prstGeom prst="ellipse">
            <a:avLst/>
          </a:prstGeom>
          <a:solidFill>
            <a:srgbClr val="47D697"/>
          </a:solidFill>
          <a:ln>
            <a:solidFill>
              <a:srgbClr val="47D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53712" y="3758184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10912" y="3749040"/>
            <a:ext cx="25603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1" i="0">
                <a:solidFill>
                  <a:srgbClr val="F5F8FC"/>
                </a:solidFill>
                <a:latin typeface="Aptos"/>
              </a:rPr>
              <a:t>Latency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0288" y="4178808"/>
            <a:ext cx="2990088" cy="822959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A4B2C5"/>
                </a:solidFill>
                <a:latin typeface="Aptos"/>
              </a:rPr>
              <a:t>Can a mapping return in a usable time?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2440" y="3611880"/>
            <a:ext cx="3337560" cy="150876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92440" y="3611880"/>
            <a:ext cx="50292" cy="1508760"/>
          </a:xfrm>
          <a:prstGeom prst="rect">
            <a:avLst/>
          </a:prstGeom>
          <a:solidFill>
            <a:srgbClr val="FFB84D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57031" y="3758184"/>
            <a:ext cx="347472" cy="347472"/>
          </a:xfrm>
          <a:prstGeom prst="ellipse">
            <a:avLst/>
          </a:prstGeom>
          <a:solidFill>
            <a:srgbClr val="FFB84D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3758184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14232" y="3749040"/>
            <a:ext cx="25603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1" i="0">
                <a:solidFill>
                  <a:srgbClr val="F5F8FC"/>
                </a:solidFill>
                <a:latin typeface="Aptos"/>
              </a:rPr>
              <a:t>Explainability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93608" y="4178808"/>
            <a:ext cx="2990088" cy="822959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A4B2C5"/>
                </a:solidFill>
                <a:latin typeface="Aptos"/>
              </a:rPr>
              <a:t>Can every result be traced to evidence?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623560"/>
            <a:ext cx="1042416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A4B2C5"/>
                </a:solidFill>
                <a:latin typeface="Aptos"/>
              </a:rPr>
              <a:t>Hackathon evaluation plan: curated benchmark set → human-reviewed ground truth → retrieval/ranking metrics → error analysis → demo.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94360" y="6446520"/>
            <a:ext cx="11000232" cy="0"/>
          </a:xfrm>
          <a:prstGeom prst="line">
            <a:avLst/>
          </a:prstGeom>
          <a:ln w="1016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21792" y="6492240"/>
            <a:ext cx="106070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19" b="0" i="0">
                <a:solidFill>
                  <a:srgbClr val="A4B2C5"/>
                </a:solidFill>
                <a:latin typeface="Aptos"/>
              </a:rPr>
              <a:t>Hackathon concept • Proposed architecture • Not a clinical decision system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13816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31D3DD"/>
                </a:solidFill>
                <a:latin typeface="Aptos"/>
              </a:rPr>
              <a:t>21 •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ptos"/>
              </a:rPr>
              <a:t>What is MVP vs. future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6984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A4B2C5"/>
                </a:solidFill>
                <a:latin typeface="Aptos"/>
              </a:rPr>
              <a:t>Build a credible vertical slice first; keep the architecture extensible.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A4B2C5"/>
                </a:solidFill>
                <a:latin typeface="Aptos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383280" cy="356616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50292" cy="3566160"/>
          </a:xfrm>
          <a:prstGeom prst="rect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" y="1792224"/>
            <a:ext cx="347472" cy="347472"/>
          </a:xfrm>
          <a:prstGeom prst="ellipse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792224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1783080"/>
            <a:ext cx="26060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MVP — tomorrow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212848"/>
            <a:ext cx="3035808" cy="2880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A4B2C5"/>
                </a:solidFill>
                <a:latin typeface="Aptos"/>
              </a:rPr>
              <a:t>• Curated terminology dataset
• NLP + embeddings
• Hybrid search
• Small knowledge graph
• Mapping agent
• Explainable result
• REST API
• 1 EMR-style 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645920"/>
            <a:ext cx="3383280" cy="356616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645920"/>
            <a:ext cx="50292" cy="3566160"/>
          </a:xfrm>
          <a:prstGeom prst="rect">
            <a:avLst/>
          </a:prstGeom>
          <a:solidFill>
            <a:srgbClr val="507EFF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2000" y="1792224"/>
            <a:ext cx="347472" cy="347472"/>
          </a:xfrm>
          <a:prstGeom prst="ellipse">
            <a:avLst/>
          </a:prstGeom>
          <a:solidFill>
            <a:srgbClr val="507EFF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792224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783080"/>
            <a:ext cx="26060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V2 — 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212848"/>
            <a:ext cx="3035808" cy="2880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A4B2C5"/>
                </a:solidFill>
                <a:latin typeface="Aptos"/>
              </a:rPr>
              <a:t>• More languages
• Better reranking
• Larger graph
• Reviewer workflow
• Model evaluation suite
• Versioned releases
• FHIR-ready adapter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9016" y="1645920"/>
            <a:ext cx="3383280" cy="3566160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29016" y="1645920"/>
            <a:ext cx="50292" cy="3566160"/>
          </a:xfrm>
          <a:prstGeom prst="rect">
            <a:avLst/>
          </a:prstGeom>
          <a:solidFill>
            <a:srgbClr val="A064FF"/>
          </a:solidFill>
          <a:ln>
            <a:solidFill>
              <a:srgbClr val="A0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93608" y="1792224"/>
            <a:ext cx="347472" cy="347472"/>
          </a:xfrm>
          <a:prstGeom prst="ellipse">
            <a:avLst/>
          </a:prstGeom>
          <a:solidFill>
            <a:srgbClr val="A064FF"/>
          </a:solidFill>
          <a:ln>
            <a:solidFill>
              <a:srgbClr val="A0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1792224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0808" y="1783080"/>
            <a:ext cx="26060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V3 —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4" y="2212848"/>
            <a:ext cx="3035808" cy="2880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A4B2C5"/>
                </a:solidFill>
                <a:latin typeface="Aptos"/>
              </a:rPr>
              <a:t>• Continuous terminology governance
• Institution-specific adapters
• Federated analytics
• Research datasets
• Population-level analytics
• Multi-system traditional medicine coverage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" y="6446520"/>
            <a:ext cx="11000232" cy="0"/>
          </a:xfrm>
          <a:prstGeom prst="line">
            <a:avLst/>
          </a:prstGeom>
          <a:ln w="1016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21792" y="6492240"/>
            <a:ext cx="106070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19" b="0" i="0">
                <a:solidFill>
                  <a:srgbClr val="A4B2C5"/>
                </a:solidFill>
                <a:latin typeface="Aptos"/>
              </a:rPr>
              <a:t>Hackathon concept • Proposed architecture • Not a clinical decision system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13816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31D3DD"/>
                </a:solidFill>
                <a:latin typeface="Aptos"/>
              </a:rPr>
              <a:t>22 • TEAM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ptos"/>
              </a:rPr>
              <a:t>Four people, four ownership tracks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6984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A4B2C5"/>
                </a:solidFill>
                <a:latin typeface="Aptos"/>
              </a:rPr>
              <a:t>Designed for a strong full-stack + ML/DL/CV + agentic-AI team.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A4B2C5"/>
                </a:solidFill>
                <a:latin typeface="Aptos"/>
              </a:rPr>
              <a:t>23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50292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070D18"/>
                </a:solidFill>
                <a:latin typeface="Aptos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581912"/>
            <a:ext cx="228600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F5F8FC"/>
                </a:solidFill>
                <a:latin typeface="Aptos"/>
              </a:rPr>
              <a:t>NLP / 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581912"/>
            <a:ext cx="713232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A4B2C5"/>
                </a:solidFill>
                <a:latin typeface="Aptos"/>
              </a:rPr>
              <a:t>Embeddings • reranker • normalization • benchmark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743200"/>
            <a:ext cx="502920" cy="502920"/>
          </a:xfrm>
          <a:prstGeom prst="ellipse">
            <a:avLst/>
          </a:prstGeom>
          <a:solidFill>
            <a:srgbClr val="507EFF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50292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070D18"/>
                </a:solidFill>
                <a:latin typeface="Apto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724912"/>
            <a:ext cx="228600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F5F8FC"/>
                </a:solidFill>
                <a:latin typeface="Aptos"/>
              </a:rPr>
              <a:t>Knowledge / 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724912"/>
            <a:ext cx="713232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A4B2C5"/>
                </a:solidFill>
                <a:latin typeface="Aptos"/>
              </a:rPr>
              <a:t>Concept schema • graph • provenance • curated data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886200"/>
            <a:ext cx="502920" cy="502920"/>
          </a:xfrm>
          <a:prstGeom prst="ellipse">
            <a:avLst/>
          </a:prstGeom>
          <a:solidFill>
            <a:srgbClr val="A064FF"/>
          </a:solidFill>
          <a:ln>
            <a:solidFill>
              <a:srgbClr val="A0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86200"/>
            <a:ext cx="50292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070D18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867912"/>
            <a:ext cx="228600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F5F8FC"/>
                </a:solidFill>
                <a:latin typeface="Aptos"/>
              </a:rPr>
              <a:t>Agent / Reasoning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867912"/>
            <a:ext cx="713232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A4B2C5"/>
                </a:solidFill>
                <a:latin typeface="Aptos"/>
              </a:rPr>
              <a:t>Tool calling • evidence synthesis • validation • trace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029200"/>
            <a:ext cx="502920" cy="502920"/>
          </a:xfrm>
          <a:prstGeom prst="ellipse">
            <a:avLst/>
          </a:prstGeom>
          <a:solidFill>
            <a:srgbClr val="47D697"/>
          </a:solidFill>
          <a:ln>
            <a:solidFill>
              <a:srgbClr val="47D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50292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070D18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5010912"/>
            <a:ext cx="228600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F5F8FC"/>
                </a:solidFill>
                <a:latin typeface="Aptos"/>
              </a:rPr>
              <a:t>Platform / 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5010912"/>
            <a:ext cx="713232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A4B2C5"/>
                </a:solidFill>
                <a:latin typeface="Aptos"/>
              </a:rPr>
              <a:t>Next.js • FastAPI • DB • API • EMR demo • 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486400"/>
            <a:ext cx="1033272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150" b="1" i="0">
                <a:solidFill>
                  <a:srgbClr val="F5F8FC"/>
                </a:solidFill>
                <a:latin typeface="Aptos"/>
              </a:rPr>
              <a:t>Integration rule: freeze the canonical concept schema + API contract early. Parallelize everything else.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4360" y="6446520"/>
            <a:ext cx="11000232" cy="0"/>
          </a:xfrm>
          <a:prstGeom prst="line">
            <a:avLst/>
          </a:prstGeom>
          <a:ln w="1016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1792" y="6492240"/>
            <a:ext cx="106070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19" b="0" i="0">
                <a:solidFill>
                  <a:srgbClr val="A4B2C5"/>
                </a:solidFill>
                <a:latin typeface="Aptos"/>
              </a:rPr>
              <a:t>Hackathon concept • Proposed architecture • Not a clinical decision system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13816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31D3DD"/>
                </a:solidFill>
                <a:latin typeface="Aptos"/>
              </a:rPr>
              <a:t>23 • WINNING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ptos"/>
              </a:rPr>
              <a:t>The story judges should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6984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A4B2C5"/>
                </a:solidFill>
                <a:latin typeface="Aptos"/>
              </a:rPr>
              <a:t>A simple narrative beats a feature dump.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A4B2C5"/>
                </a:solidFill>
                <a:latin typeface="Aptos"/>
              </a:rPr>
              <a:t>24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508760"/>
            <a:ext cx="411480" cy="411480"/>
          </a:xfrm>
          <a:prstGeom prst="ellipse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41148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070D18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481328"/>
            <a:ext cx="9692640" cy="4572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“Healthcare systems speak different terminologies.”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377439"/>
            <a:ext cx="411480" cy="411480"/>
          </a:xfrm>
          <a:prstGeom prst="ellipse">
            <a:avLst/>
          </a:prstGeom>
          <a:solidFill>
            <a:srgbClr val="507EFF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77439"/>
            <a:ext cx="41148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070D18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350008"/>
            <a:ext cx="9692640" cy="4572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“Exact-code lookup breaks when humans use natural language.”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246120"/>
            <a:ext cx="411480" cy="411480"/>
          </a:xfrm>
          <a:prstGeom prst="ellipse">
            <a:avLst/>
          </a:prstGeom>
          <a:solidFill>
            <a:srgbClr val="A064FF"/>
          </a:solidFill>
          <a:ln>
            <a:solidFill>
              <a:srgbClr val="A0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46120"/>
            <a:ext cx="41148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070D18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218688"/>
            <a:ext cx="9692640" cy="4572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“We build a semantic bridge using NLP + retrieval + knowledge graphs.”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114800"/>
            <a:ext cx="411480" cy="411480"/>
          </a:xfrm>
          <a:prstGeom prst="ellipse">
            <a:avLst/>
          </a:prstGeom>
          <a:solidFill>
            <a:srgbClr val="47D697"/>
          </a:solidFill>
          <a:ln>
            <a:solidFill>
              <a:srgbClr val="47D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114800"/>
            <a:ext cx="41148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070D18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087368"/>
            <a:ext cx="9692640" cy="4572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“Our agent gathers evidence and explains the mapping.”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983479"/>
            <a:ext cx="411480" cy="411480"/>
          </a:xfrm>
          <a:prstGeom prst="ellipse">
            <a:avLst/>
          </a:prstGeom>
          <a:solidFill>
            <a:srgbClr val="FFB84D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83479"/>
            <a:ext cx="41148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070D18"/>
                </a:solidFill>
                <a:latin typeface="Apto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956047"/>
            <a:ext cx="9692640" cy="4572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“The result is versioned, auditable and API-ready.”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623560"/>
            <a:ext cx="10607040" cy="502920"/>
          </a:xfrm>
          <a:prstGeom prst="roundRect">
            <a:avLst>
              <a:gd name="adj" fmla="val 12000"/>
            </a:avLst>
          </a:prstGeom>
          <a:solidFill>
            <a:srgbClr val="142237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733288"/>
            <a:ext cx="103327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31D3DD"/>
                </a:solidFill>
                <a:latin typeface="Aptos"/>
              </a:rPr>
              <a:t>TAGLINE: “From terminology to interoperable meaning.”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4360" y="6446520"/>
            <a:ext cx="11000232" cy="0"/>
          </a:xfrm>
          <a:prstGeom prst="line">
            <a:avLst/>
          </a:prstGeom>
          <a:ln w="1016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1792" y="6492240"/>
            <a:ext cx="106070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19" b="0" i="0">
                <a:solidFill>
                  <a:srgbClr val="A4B2C5"/>
                </a:solidFill>
                <a:latin typeface="Aptos"/>
              </a:rPr>
              <a:t>Hackathon concept • Proposed architecture • Not a clinical decision system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13816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31D3DD"/>
                </a:solidFill>
                <a:latin typeface="Aptos"/>
              </a:rPr>
              <a:t>24 • 90-SECOND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ptos"/>
              </a:rPr>
              <a:t>The exact pitch to deliver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6984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A4B2C5"/>
                </a:solidFill>
                <a:latin typeface="Aptos"/>
              </a:rPr>
              <a:t>Memorize the logic, not every word.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A4B2C5"/>
                </a:solidFill>
                <a:latin typeface="Aptos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7315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31D3DD"/>
                </a:solidFill>
                <a:latin typeface="Aptos"/>
              </a:rPr>
              <a:t>0–15s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508760"/>
            <a:ext cx="13716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Aptos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472184"/>
            <a:ext cx="8503920" cy="5486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A4B2C5"/>
                </a:solidFill>
                <a:latin typeface="Aptos"/>
              </a:rPr>
              <a:t>“A clinician can describe the same traditional concept in many ways, while hospital and global systems need standardized codes.”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50008"/>
            <a:ext cx="7315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31D3DD"/>
                </a:solidFill>
                <a:latin typeface="Aptos"/>
              </a:rPr>
              <a:t>15–35s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350008"/>
            <a:ext cx="13716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Aptos"/>
              </a:rP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313432"/>
            <a:ext cx="8503920" cy="5486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A4B2C5"/>
                </a:solidFill>
                <a:latin typeface="Aptos"/>
              </a:rPr>
              <a:t>“We built a semantic interoperability engine that understands the text, retrieves candidates and maps AYUSH concepts to ICD-11.”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91256"/>
            <a:ext cx="7315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31D3DD"/>
                </a:solidFill>
                <a:latin typeface="Aptos"/>
              </a:rPr>
              <a:t>35–60s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191256"/>
            <a:ext cx="13716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Aptos"/>
              </a:rPr>
              <a:t>Differentiator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154680"/>
            <a:ext cx="8503920" cy="5486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A4B2C5"/>
                </a:solidFill>
                <a:latin typeface="Aptos"/>
              </a:rPr>
              <a:t>“Instead of a lookup table, we combine NLP, embeddings, a terminology graph and a tool-using agent. Every mapping comes with evidence, alternatives and review status.”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32504"/>
            <a:ext cx="7315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31D3DD"/>
                </a:solidFill>
                <a:latin typeface="Aptos"/>
              </a:rPr>
              <a:t>60–80s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032504"/>
            <a:ext cx="13716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Aptos"/>
              </a:rPr>
              <a:t>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995928"/>
            <a:ext cx="8503920" cy="5486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A4B2C5"/>
                </a:solidFill>
                <a:latin typeface="Aptos"/>
              </a:rPr>
              <a:t>“The engine is exposed as a versioned API and can sit between an AYUSH/EMR workflow and ICD-11 services.”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73752"/>
            <a:ext cx="7315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31D3DD"/>
                </a:solidFill>
                <a:latin typeface="Aptos"/>
              </a:rPr>
              <a:t>80–90s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873752"/>
            <a:ext cx="13716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Aptos"/>
              </a:rPr>
              <a:t>Close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837176"/>
            <a:ext cx="8503920" cy="5486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A4B2C5"/>
                </a:solidFill>
                <a:latin typeface="Aptos"/>
              </a:rPr>
              <a:t>“We are not replacing either classification. We are building the intelligent bridge that lets them communicate.”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4360" y="6446520"/>
            <a:ext cx="11000232" cy="0"/>
          </a:xfrm>
          <a:prstGeom prst="line">
            <a:avLst/>
          </a:prstGeom>
          <a:ln w="1016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1792" y="6492240"/>
            <a:ext cx="106070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19" b="0" i="0">
                <a:solidFill>
                  <a:srgbClr val="A4B2C5"/>
                </a:solidFill>
                <a:latin typeface="Aptos"/>
              </a:rPr>
              <a:t>Hackathon concept • Proposed architecture • Not a clinical decision system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13816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31D3DD"/>
                </a:solidFill>
                <a:latin typeface="Aptos"/>
              </a:rPr>
              <a:t>25 • JUDGE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ptos"/>
              </a:rPr>
              <a:t>Hard questions — and the right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6984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A4B2C5"/>
                </a:solidFill>
                <a:latin typeface="Aptos"/>
              </a:rPr>
              <a:t>Prepare these before the demo.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A4B2C5"/>
                </a:solidFill>
                <a:latin typeface="Aptos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5074920" cy="1207008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50292" cy="1207008"/>
          </a:xfrm>
          <a:prstGeom prst="rect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" y="1700784"/>
            <a:ext cx="347472" cy="347472"/>
          </a:xfrm>
          <a:prstGeom prst="ellipse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700784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1691639"/>
            <a:ext cx="429768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50" b="1" i="0">
                <a:solidFill>
                  <a:srgbClr val="F5F8FC"/>
                </a:solidFill>
                <a:latin typeface="Aptos"/>
              </a:rPr>
              <a:t>“Why not just use an LLM?”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121408"/>
            <a:ext cx="4727448" cy="5212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69" b="0" i="0">
                <a:solidFill>
                  <a:srgbClr val="A4B2C5"/>
                </a:solidFill>
                <a:latin typeface="Aptos"/>
              </a:rPr>
              <a:t>Because mappings need retrieval, provenance, deterministic checks and abstention—not free-form generation.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5074920" cy="1207008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50292" cy="1207008"/>
          </a:xfrm>
          <a:prstGeom prst="rect">
            <a:avLst/>
          </a:prstGeom>
          <a:solidFill>
            <a:srgbClr val="507EFF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82512" y="1700784"/>
            <a:ext cx="347472" cy="347472"/>
          </a:xfrm>
          <a:prstGeom prst="ellipse">
            <a:avLst/>
          </a:prstGeom>
          <a:solidFill>
            <a:srgbClr val="507EFF"/>
          </a:solidFill>
          <a:ln>
            <a:solidFill>
              <a:srgbClr val="5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700784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691639"/>
            <a:ext cx="429768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50" b="1" i="0">
                <a:solidFill>
                  <a:srgbClr val="F5F8FC"/>
                </a:solidFill>
                <a:latin typeface="Aptos"/>
              </a:rPr>
              <a:t>“Why embeddings?”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121408"/>
            <a:ext cx="4727448" cy="5212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69" b="0" i="0">
                <a:solidFill>
                  <a:srgbClr val="A4B2C5"/>
                </a:solidFill>
                <a:latin typeface="Aptos"/>
              </a:rPr>
              <a:t>To handle semantic similarity when wording differs from standardized terminology.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063239"/>
            <a:ext cx="5074920" cy="1207008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063239"/>
            <a:ext cx="50292" cy="1207008"/>
          </a:xfrm>
          <a:prstGeom prst="rect">
            <a:avLst/>
          </a:prstGeom>
          <a:solidFill>
            <a:srgbClr val="A064FF"/>
          </a:solidFill>
          <a:ln>
            <a:solidFill>
              <a:srgbClr val="A0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0392" y="3209544"/>
            <a:ext cx="347472" cy="347472"/>
          </a:xfrm>
          <a:prstGeom prst="ellipse">
            <a:avLst/>
          </a:prstGeom>
          <a:solidFill>
            <a:srgbClr val="A064FF"/>
          </a:solidFill>
          <a:ln>
            <a:solidFill>
              <a:srgbClr val="A0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3209544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7592" y="3200399"/>
            <a:ext cx="429768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50" b="1" i="0">
                <a:solidFill>
                  <a:srgbClr val="F5F8FC"/>
                </a:solidFill>
                <a:latin typeface="Aptos"/>
              </a:rPr>
              <a:t>“Why a graph?”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3630168"/>
            <a:ext cx="4727448" cy="5212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69" b="0" i="0">
                <a:solidFill>
                  <a:srgbClr val="A4B2C5"/>
                </a:solidFill>
                <a:latin typeface="Aptos"/>
              </a:rPr>
              <a:t>To preserve explicit relationships and provide structural evidence for ranking and explanation.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063239"/>
            <a:ext cx="5074920" cy="1207008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063239"/>
            <a:ext cx="50292" cy="1207008"/>
          </a:xfrm>
          <a:prstGeom prst="rect">
            <a:avLst/>
          </a:prstGeom>
          <a:solidFill>
            <a:srgbClr val="47D697"/>
          </a:solidFill>
          <a:ln>
            <a:solidFill>
              <a:srgbClr val="47D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82512" y="3209544"/>
            <a:ext cx="347472" cy="347472"/>
          </a:xfrm>
          <a:prstGeom prst="ellipse">
            <a:avLst/>
          </a:prstGeom>
          <a:solidFill>
            <a:srgbClr val="47D697"/>
          </a:solidFill>
          <a:ln>
            <a:solidFill>
              <a:srgbClr val="47D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3209544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3200399"/>
            <a:ext cx="429768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50" b="1" i="0">
                <a:solidFill>
                  <a:srgbClr val="F5F8FC"/>
                </a:solidFill>
                <a:latin typeface="Aptos"/>
              </a:rPr>
              <a:t>“Is the confidence a medical guarantee?”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3630168"/>
            <a:ext cx="4727448" cy="5212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69" b="0" i="0">
                <a:solidFill>
                  <a:srgbClr val="A4B2C5"/>
                </a:solidFill>
                <a:latin typeface="Aptos"/>
              </a:rPr>
              <a:t>No. It is a system ranking/confidence signal; ambiguous cases require review.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572000"/>
            <a:ext cx="5074920" cy="1207008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4572000"/>
            <a:ext cx="50292" cy="1207008"/>
          </a:xfrm>
          <a:prstGeom prst="rect">
            <a:avLst/>
          </a:prstGeom>
          <a:solidFill>
            <a:srgbClr val="FFB84D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50392" y="4718304"/>
            <a:ext cx="347472" cy="347472"/>
          </a:xfrm>
          <a:prstGeom prst="ellipse">
            <a:avLst/>
          </a:prstGeom>
          <a:solidFill>
            <a:srgbClr val="FFB84D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4718304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07592" y="4709160"/>
            <a:ext cx="429768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50" b="1" i="0">
                <a:solidFill>
                  <a:srgbClr val="F5F8FC"/>
                </a:solidFill>
                <a:latin typeface="Aptos"/>
              </a:rPr>
              <a:t>“Can this integrate with EMRs?”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" y="5138928"/>
            <a:ext cx="4727448" cy="5212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69" b="0" i="0">
                <a:solidFill>
                  <a:srgbClr val="A4B2C5"/>
                </a:solidFill>
                <a:latin typeface="Aptos"/>
              </a:rPr>
              <a:t>Yes at the API boundary; the hackathon prototype demonstrates a clean adapter pattern.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572000"/>
            <a:ext cx="5074920" cy="1207008"/>
          </a:xfrm>
          <a:prstGeom prst="roundRect">
            <a:avLst>
              <a:gd name="adj" fmla="val 12000"/>
            </a:avLst>
          </a:prstGeom>
          <a:solidFill>
            <a:srgbClr val="0F192A"/>
          </a:solidFill>
          <a:ln>
            <a:solidFill>
              <a:srgbClr val="22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4572000"/>
            <a:ext cx="50292" cy="1207008"/>
          </a:xfrm>
          <a:prstGeom prst="rect">
            <a:avLst/>
          </a:prstGeom>
          <a:solidFill>
            <a:srgbClr val="FF5F6E"/>
          </a:solidFill>
          <a:ln>
            <a:solidFill>
              <a:srgbClr val="FF5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82512" y="4718304"/>
            <a:ext cx="347472" cy="347472"/>
          </a:xfrm>
          <a:prstGeom prst="ellipse">
            <a:avLst/>
          </a:prstGeom>
          <a:solidFill>
            <a:srgbClr val="FF5F6E"/>
          </a:solidFill>
          <a:ln>
            <a:solidFill>
              <a:srgbClr val="FF5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82512" y="4718304"/>
            <a:ext cx="34747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070D18"/>
                </a:solidFill>
                <a:latin typeface="Aptos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4709160"/>
            <a:ext cx="429768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50" b="1" i="0">
                <a:solidFill>
                  <a:srgbClr val="F5F8FC"/>
                </a:solidFill>
                <a:latin typeface="Aptos"/>
              </a:rPr>
              <a:t>“What makes it scalable?”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9088" y="5138928"/>
            <a:ext cx="4727448" cy="5212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69" b="0" i="0">
                <a:solidFill>
                  <a:srgbClr val="A4B2C5"/>
                </a:solidFill>
                <a:latin typeface="Aptos"/>
              </a:rPr>
              <a:t>Versioned concepts, modular retrieval, replaceable models, API-first design and provenance.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94360" y="6446520"/>
            <a:ext cx="11000232" cy="0"/>
          </a:xfrm>
          <a:prstGeom prst="line">
            <a:avLst/>
          </a:prstGeom>
          <a:ln w="1016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21792" y="6492240"/>
            <a:ext cx="106070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19" b="0" i="0">
                <a:solidFill>
                  <a:srgbClr val="A4B2C5"/>
                </a:solidFill>
                <a:latin typeface="Aptos"/>
              </a:rPr>
              <a:t>Hackathon concept • Proposed architecture • Not a clinical decision system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13816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31D3DD"/>
                </a:solidFill>
                <a:latin typeface="Aptos"/>
              </a:rPr>
              <a:t>26 • SOURCES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ptos"/>
              </a:rPr>
              <a:t>Official sources to cite in your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6984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A4B2C5"/>
                </a:solidFill>
                <a:latin typeface="Aptos"/>
              </a:rPr>
              <a:t>Use official sources for claims; label hackathon enhancements as proposed.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A4B2C5"/>
                </a:solidFill>
                <a:latin typeface="Aptos"/>
              </a:rPr>
              <a:t>27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508760"/>
            <a:ext cx="329184" cy="329184"/>
          </a:xfrm>
          <a:prstGeom prst="ellipse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329184" cy="32918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800" b="1" i="0">
                <a:solidFill>
                  <a:srgbClr val="070D18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426464"/>
            <a:ext cx="996696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F5F8FC"/>
                </a:solidFill>
                <a:latin typeface="Aptos"/>
              </a:rPr>
              <a:t>WHO — Traditional Medicine FAQ: optional dual coding; scope and role of the ICD-11 Traditional Medicine chapter.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350008"/>
            <a:ext cx="329184" cy="329184"/>
          </a:xfrm>
          <a:prstGeom prst="ellipse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50008"/>
            <a:ext cx="329184" cy="32918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800" b="1" i="0">
                <a:solidFill>
                  <a:srgbClr val="070D18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267712"/>
            <a:ext cx="996696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F5F8FC"/>
                </a:solidFill>
                <a:latin typeface="Aptos"/>
              </a:rPr>
              <a:t>WHO — ICD-API documentation: REST API, authentication, versioning, foundation/linearization access.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191256"/>
            <a:ext cx="329184" cy="329184"/>
          </a:xfrm>
          <a:prstGeom prst="ellipse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191256"/>
            <a:ext cx="329184" cy="32918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800" b="1" i="0">
                <a:solidFill>
                  <a:srgbClr val="070D18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108960"/>
            <a:ext cx="996696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F5F8FC"/>
                </a:solidFill>
                <a:latin typeface="Aptos"/>
              </a:rPr>
              <a:t>Ministry of Ayush — NAMASTE Portal: standardized AYUSH terminologies, morbidity codes and dual-coding context.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032504"/>
            <a:ext cx="329184" cy="329184"/>
          </a:xfrm>
          <a:prstGeom prst="ellipse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032504"/>
            <a:ext cx="329184" cy="32918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800" b="1" i="0">
                <a:solidFill>
                  <a:srgbClr val="070D18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950208"/>
            <a:ext cx="996696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F5F8FC"/>
                </a:solidFill>
                <a:latin typeface="Aptos"/>
              </a:rPr>
              <a:t>Ministry of Ayush — 2025 ICD-11 update release: TM2 for Ayurveda, Siddha and Unani and its official release context.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873752"/>
            <a:ext cx="329184" cy="329184"/>
          </a:xfrm>
          <a:prstGeom prst="ellipse">
            <a:avLst/>
          </a:prstGeom>
          <a:solidFill>
            <a:srgbClr val="31D3DD"/>
          </a:solidFill>
          <a:ln>
            <a:solidFill>
              <a:srgbClr val="31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873752"/>
            <a:ext cx="329184" cy="32918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800" b="1" i="0">
                <a:solidFill>
                  <a:srgbClr val="070D18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791456"/>
            <a:ext cx="996696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F5F8FC"/>
                </a:solidFill>
                <a:latin typeface="Aptos"/>
              </a:rPr>
              <a:t>Hackathon PS — API/microservice integration, search/autocomplete, dual coding, EMR integration and standards are the base requirements; AI/graph/agent features in this deck are proposed enhancements.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06440"/>
            <a:ext cx="105156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A4B2C5"/>
                </a:solidFill>
                <a:latin typeface="Aptos"/>
              </a:rPr>
              <a:t>Official links: who.int/standards/classifications • icd.who.int/docs/icd-api • namaste.ayush.gov.in • ayush.gov.in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4360" y="6446520"/>
            <a:ext cx="11000232" cy="0"/>
          </a:xfrm>
          <a:prstGeom prst="line">
            <a:avLst/>
          </a:prstGeom>
          <a:ln w="10160">
            <a:solidFill>
              <a:srgbClr val="2232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21792" y="6492240"/>
            <a:ext cx="106070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19" b="0" i="0">
                <a:solidFill>
                  <a:srgbClr val="A4B2C5"/>
                </a:solidFill>
                <a:latin typeface="Aptos"/>
              </a:rPr>
              <a:t>Sources: WHO • Ministry of Ayush • Hackathon PS. Proposed architecture is clearly marked as such.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13816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31D3DD"/>
                </a:solidFill>
                <a:latin typeface="Aptos"/>
              </a:rPr>
              <a:t>27 •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F5F8FC"/>
                </a:solidFill>
                <a:latin typeface="Aptos"/>
              </a:rPr>
              <a:t>Build the bridge. Prove the reasoning.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6984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A4B2C5"/>
                </a:solidFill>
                <a:latin typeface="Aptos"/>
              </a:rPr>
              <a:t>The winning demo is not “AI gives a code.” It is “AI shows why the mapping is trustworthy enough to review.”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A4B2C5"/>
                </a:solidFill>
                <a:latin typeface="Aptos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515600" cy="8229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400" b="1" i="0">
                <a:solidFill>
                  <a:srgbClr val="A4B2C5"/>
                </a:solidFill>
                <a:latin typeface="Aptos"/>
              </a:rPr>
              <a:t>TERMINOLOGY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10515600" cy="6858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400" b="1" i="0">
                <a:solidFill>
                  <a:srgbClr val="31D3DD"/>
                </a:solidFill>
                <a:latin typeface="Aptos"/>
              </a:rPr>
              <a:t>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10515600" cy="8229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200" b="1" i="0">
                <a:solidFill>
                  <a:srgbClr val="31D3DD"/>
                </a:solidFill>
                <a:latin typeface="Aptos"/>
              </a:rPr>
              <a:t>SEMANTIC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66160"/>
            <a:ext cx="10515600" cy="6858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400" b="1" i="0">
                <a:solidFill>
                  <a:srgbClr val="31D3DD"/>
                </a:solidFill>
                <a:latin typeface="Aptos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39"/>
            <a:ext cx="10515600" cy="8229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200" b="1" i="0">
                <a:solidFill>
                  <a:srgbClr val="507EFF"/>
                </a:solidFill>
                <a:latin typeface="Aptos"/>
              </a:rPr>
              <a:t>EXPLAINABLE MAPPING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515600" cy="6858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400" b="1" i="0">
                <a:solidFill>
                  <a:srgbClr val="31D3DD"/>
                </a:solidFill>
                <a:latin typeface="Aptos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074920"/>
            <a:ext cx="10515600" cy="8229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200" b="1" i="0">
                <a:solidFill>
                  <a:srgbClr val="47D697"/>
                </a:solidFill>
                <a:latin typeface="Aptos"/>
              </a:rPr>
              <a:t>INTEROPERABLE HEALTH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989320"/>
            <a:ext cx="105156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950" b="0" i="0">
                <a:solidFill>
                  <a:srgbClr val="A4B2C5"/>
                </a:solidFill>
                <a:latin typeface="Aptos"/>
              </a:rPr>
              <a:t>NAMASTE ↔ ICD-11 • NLP • Vector Search • Knowledge Graph • Agentic AI •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